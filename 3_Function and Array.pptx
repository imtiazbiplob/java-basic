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omments/comment2.xml" ContentType="application/vnd.openxmlformats-officedocument.presentationml.comments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comments/comment3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84" r:id="rId4"/>
    <p:sldId id="285" r:id="rId5"/>
    <p:sldId id="286" r:id="rId6"/>
    <p:sldId id="287" r:id="rId7"/>
    <p:sldId id="288" r:id="rId8"/>
    <p:sldId id="289" r:id="rId9"/>
    <p:sldId id="258" r:id="rId10"/>
    <p:sldId id="260" r:id="rId11"/>
    <p:sldId id="291" r:id="rId12"/>
    <p:sldId id="259" r:id="rId13"/>
    <p:sldId id="29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93" r:id="rId22"/>
    <p:sldId id="268" r:id="rId23"/>
    <p:sldId id="277" r:id="rId24"/>
    <p:sldId id="278" r:id="rId25"/>
    <p:sldId id="274" r:id="rId26"/>
    <p:sldId id="294" r:id="rId27"/>
    <p:sldId id="275" r:id="rId28"/>
    <p:sldId id="276" r:id="rId29"/>
    <p:sldId id="269" r:id="rId30"/>
    <p:sldId id="270" r:id="rId31"/>
    <p:sldId id="271" r:id="rId32"/>
    <p:sldId id="272" r:id="rId33"/>
    <p:sldId id="273" r:id="rId34"/>
    <p:sldId id="279" r:id="rId35"/>
    <p:sldId id="280" r:id="rId36"/>
    <p:sldId id="281" r:id="rId37"/>
    <p:sldId id="282" r:id="rId38"/>
    <p:sldId id="283" r:id="rId3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9" roundtripDataSignature="AMtx7mi9q+XIjUir9Zbyo7lk/yzaJmmifA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alman Rahman" initials="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EF5B0F8-106C-4EFE-A142-EADC6AEF26FF}">
  <a:tblStyle styleId="{EEF5B0F8-106C-4EFE-A142-EADC6AEF26FF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50" Type="http://schemas.openxmlformats.org/officeDocument/2006/relationships/commentAuthors" Target="comment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54" Type="http://schemas.openxmlformats.org/officeDocument/2006/relationships/tableStyles" Target="tableStyle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4-12-03T18:32:31.091" idx="1">
    <p:pos x="528" y="1150"/>
    <p:text>public static void main(String[] args) {
int[] numbers = {6, 3, 9, 10, 11, 1, 8, 5};
int max = numbers[0];
int sLargest = numbers[0];
for (int i = 0; i &lt; numbers.length; i++) {
if (numbers[i] &gt; max) {
sLargest = max;
max = numbers[i];
} else if (numbers[i] &gt; sLargest) {
sLargest = numbers[i];
}
}
System.out.println(sLargest);
}</p:text>
    <p:extLst>
      <p:ext uri="{C676402C-5697-4E1C-873F-D02D1690AC5C}">
        <p15:threadingInfo xmlns:p15="http://schemas.microsoft.com/office/powerpoint/2012/main" timeZoneBias="0"/>
      </p:ext>
      <p:ext uri="http://customooxmlschemas.google.com/">
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commentPostId="AAABZmD_vIA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4-12-03T19:01:37.842" idx="2">
    <p:pos x="528" y="1150"/>
    <p:text>public static void main(String[] args) {
int[] numbers = {1, 2, 3, 1, 2, 4, 5, 6, 3, 3, 1, 4};
for (int i = 0; i &lt; numbers.length; i++) {
int count = 1;
for (int j = i+1; j &lt; numbers.length; j++) {
if (numbers[i] == numbers[j]) {
count++;
}
}
if (count &gt; 1) {
System.out.println(numbers[i] + " appears " + count + " times");
}
}
}</p:text>
    <p:extLst>
      <p:ext uri="{C676402C-5697-4E1C-873F-D02D1690AC5C}">
        <p15:threadingInfo xmlns:p15="http://schemas.microsoft.com/office/powerpoint/2012/main" timeZoneBias="0"/>
      </p:ext>
      <p:ext uri="http://customooxmlschemas.google.com/">
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commentPostId="AAABZmD_vIg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4-12-03T18:36:59.179" idx="3">
    <p:pos x="528" y="1150"/>
    <p:text>public static void main(String[] args) {
int[] numbers={8,7,8,9,9,5,0,1};
HashSet&lt;Integer&gt; hashSet=new HashSet();
HashSet&lt;Integer&gt; newHashset=new HashSet&lt;&gt;();
for(int c: numbers){
if(!hashSet.add(c)){
newHashset.add(c);
}
}
System.out.println(newHashset);
}</p:text>
    <p:extLst>
      <p:ext uri="{C676402C-5697-4E1C-873F-D02D1690AC5C}">
        <p15:threadingInfo xmlns:p15="http://schemas.microsoft.com/office/powerpoint/2012/main" timeZoneBias="0"/>
      </p:ext>
      <p:ext uri="http://customooxmlschemas.google.com/">
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commentPostId="AAABZmD_vIE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9" name="Google Shape;9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005fa368f6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" name="Google Shape;112;g3005fa368f6_0_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3" name="Google Shape;113;g3005fa368f6_0_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005fa368f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g3005fa368f6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6" name="Google Shape;106;g3005fa368f6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005fa368f6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3005fa368f6_0_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0" name="Google Shape;120;g3005fa368f6_0_5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7" name="Google Shape;12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3" name="Google Shape;13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9" name="Google Shape;13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6" name="Google Shape;14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1ed72ef041_1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1ed72ef041_1_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g31ed72ef041_1_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005fa368f6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g3005fa368f6_0_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0" name="Google Shape;160;g3005fa368f6_0_3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AB94E506-43FD-1E08-ED49-1B7FAB403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005fa368f6_0_43:notes">
            <a:extLst>
              <a:ext uri="{FF2B5EF4-FFF2-40B4-BE49-F238E27FC236}">
                <a16:creationId xmlns:a16="http://schemas.microsoft.com/office/drawing/2014/main" id="{76AC5915-FECF-2E94-03D2-D363A73429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g3005fa368f6_0_43:notes">
            <a:extLst>
              <a:ext uri="{FF2B5EF4-FFF2-40B4-BE49-F238E27FC236}">
                <a16:creationId xmlns:a16="http://schemas.microsoft.com/office/drawing/2014/main" id="{CD94B157-00E5-3356-F040-E461DEA9D6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4" name="Google Shape;174;g3005fa368f6_0_43:notes">
            <a:extLst>
              <a:ext uri="{FF2B5EF4-FFF2-40B4-BE49-F238E27FC236}">
                <a16:creationId xmlns:a16="http://schemas.microsoft.com/office/drawing/2014/main" id="{22141F5A-6828-79A9-B3E3-F6A5029DE4F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803095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005fa368f6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g3005fa368f6_0_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7" name="Google Shape;167;g3005fa368f6_0_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8" name="Google Shape;22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4" name="Google Shape;23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016befda7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7" name="Google Shape;207;g2016befda7f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8" name="Google Shape;208;g2016befda7f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2b76b56ea4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4" name="Google Shape;214;g2b76b56ea44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5" name="Google Shape;215;g2b76b56ea44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2" name="Google Shape;22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005fa368f6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g3005fa368f6_0_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4" name="Google Shape;174;g3005fa368f6_0_4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005fa368f6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0" name="Google Shape;180;g3005fa368f6_0_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1" name="Google Shape;181;g3005fa368f6_0_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7" name="Google Shape;18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005fa368f6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3" name="Google Shape;193;g3005fa368f6_0_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4" name="Google Shape;194;g3005fa368f6_0_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1ed72ef041_1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1ed72ef041_1_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g31ed72ef041_1_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0" name="Google Shape;24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28af06d07f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28af06d07f2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g28af06d07f2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1ed72ef041_1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1ed72ef041_1_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g31ed72ef041_1_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0" name="Google Shape;26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1ed72ef041_1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1ed72ef041_1_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g31ed72ef041_1_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3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3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3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3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3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2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3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rm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Gill Sans"/>
              <a:buNone/>
            </a:pPr>
            <a:r>
              <a:rPr lang="en-US"/>
              <a:t>BASIC JAVA</a:t>
            </a:r>
            <a:br>
              <a:rPr lang="en-US"/>
            </a:br>
            <a:r>
              <a:rPr lang="en-US" sz="5000"/>
              <a:t>CLASS-3</a:t>
            </a:r>
            <a:endParaRPr/>
          </a:p>
        </p:txBody>
      </p:sp>
      <p:sp>
        <p:nvSpPr>
          <p:cNvPr id="89" name="Google Shape;89;p1"/>
          <p:cNvSpPr txBox="1"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1414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INSTRUCTOR</a:t>
            </a:r>
            <a:endParaRPr/>
          </a:p>
          <a:p>
            <a:pPr marL="0" lvl="0" indent="0" algn="r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SALMAN RAHMAN</a:t>
            </a:r>
            <a:endParaRPr/>
          </a:p>
          <a:p>
            <a:pPr marL="0" lvl="0" indent="0" algn="r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ROAD TO SDET</a:t>
            </a:r>
            <a:endParaRPr/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7476" y="85725"/>
            <a:ext cx="1250108" cy="125010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n-US"/>
              <a:t>CONTENTS</a:t>
            </a:r>
            <a:endParaRPr/>
          </a:p>
        </p:txBody>
      </p:sp>
      <p:sp>
        <p:nvSpPr>
          <p:cNvPr id="96" name="Google Shape;96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dirty="0"/>
              <a:t>Function</a:t>
            </a:r>
            <a:endParaRPr dirty="0"/>
          </a:p>
          <a:p>
            <a:pPr marL="2286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dirty="0"/>
              <a:t>Array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D7B93-1B90-BDBD-4E68-3D5F762C6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and call a function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4DAA14-A36D-3C4C-5D5C-7A44FEBE69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61440"/>
            <a:ext cx="10515600" cy="5313680"/>
          </a:xfrm>
        </p:spPr>
        <p:txBody>
          <a:bodyPr>
            <a:normAutofit/>
          </a:bodyPr>
          <a:lstStyle/>
          <a:p>
            <a:r>
              <a:rPr lang="en-US" sz="2000" b="1" dirty="0"/>
              <a:t>How can you call a function in main method?</a:t>
            </a:r>
          </a:p>
          <a:p>
            <a:pPr>
              <a:buFont typeface="Symbol" panose="05050102010706020507" pitchFamily="18" charset="2"/>
              <a:buChar char="Þ"/>
            </a:pPr>
            <a:r>
              <a:rPr lang="en-US" sz="2000" dirty="0"/>
              <a:t>Create the object of that class and call the method inside the main method. Example code:</a:t>
            </a:r>
          </a:p>
          <a:p>
            <a:pPr marL="114300" indent="0">
              <a:buNone/>
            </a:pPr>
            <a:r>
              <a:rPr lang="en-US" sz="2000" b="1" dirty="0"/>
              <a:t>[ Always try to keep the first letter of a class name as capital and first letter of a variable / function name as small letter. ]</a:t>
            </a:r>
          </a:p>
          <a:p>
            <a:pPr marL="114300" indent="0">
              <a:buNone/>
            </a:pPr>
            <a:r>
              <a:rPr lang="en-US" sz="2000" dirty="0"/>
              <a:t>public class </a:t>
            </a:r>
            <a:r>
              <a:rPr lang="en-US" sz="2000" dirty="0" err="1"/>
              <a:t>BasicMethods</a:t>
            </a:r>
            <a:r>
              <a:rPr lang="en-US" sz="2000" dirty="0"/>
              <a:t> {</a:t>
            </a:r>
          </a:p>
          <a:p>
            <a:pPr marL="114300" indent="0">
              <a:buNone/>
            </a:pPr>
            <a:r>
              <a:rPr lang="en-US" sz="2000" dirty="0"/>
              <a:t>    public static void main(String[] </a:t>
            </a:r>
            <a:r>
              <a:rPr lang="en-US" sz="2000" dirty="0" err="1"/>
              <a:t>args</a:t>
            </a:r>
            <a:r>
              <a:rPr lang="en-US" sz="2000" dirty="0"/>
              <a:t>) {</a:t>
            </a:r>
          </a:p>
          <a:p>
            <a:pPr marL="114300" indent="0">
              <a:buNone/>
            </a:pPr>
            <a:r>
              <a:rPr lang="en-US" sz="2000" dirty="0"/>
              <a:t>        </a:t>
            </a:r>
            <a:r>
              <a:rPr lang="en-US" sz="2000" dirty="0" err="1"/>
              <a:t>BasicMethods</a:t>
            </a:r>
            <a:r>
              <a:rPr lang="en-US" sz="2000" dirty="0"/>
              <a:t> basic = new </a:t>
            </a:r>
            <a:r>
              <a:rPr lang="en-US" sz="2000" dirty="0" err="1"/>
              <a:t>BasicMethods</a:t>
            </a:r>
            <a:r>
              <a:rPr lang="en-US" sz="2000" dirty="0"/>
              <a:t>();</a:t>
            </a:r>
          </a:p>
          <a:p>
            <a:pPr marL="114300" indent="0">
              <a:buNone/>
            </a:pPr>
            <a:r>
              <a:rPr lang="en-US" sz="2000" dirty="0"/>
              <a:t>        </a:t>
            </a:r>
            <a:r>
              <a:rPr lang="en-US" sz="2000" dirty="0" err="1"/>
              <a:t>basic.sayHello</a:t>
            </a:r>
            <a:r>
              <a:rPr lang="en-US" sz="2000" dirty="0"/>
              <a:t>();</a:t>
            </a:r>
          </a:p>
          <a:p>
            <a:pPr marL="114300" indent="0">
              <a:buNone/>
            </a:pPr>
            <a:r>
              <a:rPr lang="en-US" sz="2000" dirty="0"/>
              <a:t>    }</a:t>
            </a:r>
          </a:p>
          <a:p>
            <a:pPr marL="114300" indent="0">
              <a:buNone/>
            </a:pPr>
            <a:r>
              <a:rPr lang="en-US" sz="2000" dirty="0"/>
              <a:t>    public void </a:t>
            </a:r>
            <a:r>
              <a:rPr lang="en-US" sz="2000" dirty="0" err="1"/>
              <a:t>sayHello</a:t>
            </a:r>
            <a:r>
              <a:rPr lang="en-US" sz="2000" dirty="0"/>
              <a:t>(){</a:t>
            </a:r>
          </a:p>
          <a:p>
            <a:pPr marL="114300" indent="0">
              <a:buNone/>
            </a:pPr>
            <a:r>
              <a:rPr lang="en-US" sz="2000" dirty="0"/>
              <a:t>        </a:t>
            </a:r>
            <a:r>
              <a:rPr lang="en-US" sz="2000" dirty="0" err="1"/>
              <a:t>System.out.println</a:t>
            </a:r>
            <a:r>
              <a:rPr lang="en-US" sz="2000" dirty="0"/>
              <a:t>("Hello world");</a:t>
            </a:r>
          </a:p>
          <a:p>
            <a:pPr marL="114300" indent="0">
              <a:buNone/>
            </a:pPr>
            <a:r>
              <a:rPr lang="en-US" sz="2000" dirty="0"/>
              <a:t>    }</a:t>
            </a:r>
          </a:p>
          <a:p>
            <a:pPr marL="114300" indent="0">
              <a:buNone/>
            </a:pPr>
            <a:r>
              <a:rPr lang="en-US" sz="2000" dirty="0"/>
              <a:t>}</a:t>
            </a:r>
          </a:p>
          <a:p>
            <a:pPr marL="11430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4516567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16EEF-9C36-1D22-F803-D7CEAE327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30E5F-F671-2D24-E102-EFC7163A1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Passing an argument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8BBFF3-21ED-77C4-D6C0-5E03DA959F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61440"/>
            <a:ext cx="10515600" cy="5313680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endParaRPr lang="en-US" sz="2000" dirty="0"/>
          </a:p>
          <a:p>
            <a:pPr marL="114300" indent="0">
              <a:buNone/>
            </a:pPr>
            <a:r>
              <a:rPr lang="en-US" sz="2000" dirty="0"/>
              <a:t>public class </a:t>
            </a:r>
            <a:r>
              <a:rPr lang="en-US" sz="2000" dirty="0" err="1"/>
              <a:t>BasicMethods</a:t>
            </a:r>
            <a:r>
              <a:rPr lang="en-US" sz="2000" dirty="0"/>
              <a:t> {</a:t>
            </a:r>
          </a:p>
          <a:p>
            <a:pPr marL="114300" indent="0">
              <a:buNone/>
            </a:pPr>
            <a:r>
              <a:rPr lang="en-US" sz="2000" dirty="0"/>
              <a:t>    public static void main(String[] </a:t>
            </a:r>
            <a:r>
              <a:rPr lang="en-US" sz="2000" dirty="0" err="1"/>
              <a:t>args</a:t>
            </a:r>
            <a:r>
              <a:rPr lang="en-US" sz="2000" dirty="0"/>
              <a:t>) {</a:t>
            </a:r>
          </a:p>
          <a:p>
            <a:pPr marL="114300" indent="0">
              <a:buNone/>
            </a:pPr>
            <a:r>
              <a:rPr lang="en-US" sz="2000" dirty="0"/>
              <a:t>        </a:t>
            </a:r>
            <a:r>
              <a:rPr lang="en-US" sz="2000" dirty="0" err="1"/>
              <a:t>BasicMethods</a:t>
            </a:r>
            <a:r>
              <a:rPr lang="en-US" sz="2000" dirty="0"/>
              <a:t> basic = new </a:t>
            </a:r>
            <a:r>
              <a:rPr lang="en-US" sz="2000" dirty="0" err="1"/>
              <a:t>BasicMethods</a:t>
            </a:r>
            <a:r>
              <a:rPr lang="en-US" sz="2000" dirty="0"/>
              <a:t>();</a:t>
            </a:r>
          </a:p>
          <a:p>
            <a:pPr marL="114300" indent="0">
              <a:buNone/>
            </a:pPr>
            <a:r>
              <a:rPr lang="en-US" sz="2000" dirty="0"/>
              <a:t>        </a:t>
            </a:r>
            <a:r>
              <a:rPr lang="en-US" sz="2000" dirty="0" err="1"/>
              <a:t>basic.sayHello</a:t>
            </a:r>
            <a:r>
              <a:rPr lang="en-US" sz="2000" dirty="0"/>
              <a:t>(</a:t>
            </a:r>
            <a:r>
              <a:rPr lang="en-US" sz="2000" b="1" dirty="0"/>
              <a:t>"Ashraful"</a:t>
            </a:r>
            <a:r>
              <a:rPr lang="en-US" sz="2000" dirty="0"/>
              <a:t>)</a:t>
            </a:r>
            <a:r>
              <a:rPr lang="en-US" sz="2000" b="1" dirty="0"/>
              <a:t>;</a:t>
            </a:r>
          </a:p>
          <a:p>
            <a:pPr marL="114300" indent="0">
              <a:buNone/>
            </a:pPr>
            <a:r>
              <a:rPr lang="en-US" sz="2000" dirty="0"/>
              <a:t>    }</a:t>
            </a:r>
          </a:p>
          <a:p>
            <a:pPr marL="114300" indent="0">
              <a:buNone/>
            </a:pPr>
            <a:endParaRPr lang="en-US" sz="2000" dirty="0"/>
          </a:p>
          <a:p>
            <a:pPr marL="114300" indent="0">
              <a:buNone/>
            </a:pPr>
            <a:r>
              <a:rPr lang="en-US" sz="2000" dirty="0"/>
              <a:t>    public void </a:t>
            </a:r>
            <a:r>
              <a:rPr lang="en-US" sz="2000" dirty="0" err="1"/>
              <a:t>sayHello</a:t>
            </a:r>
            <a:r>
              <a:rPr lang="en-US" sz="2000" dirty="0"/>
              <a:t>(</a:t>
            </a:r>
            <a:r>
              <a:rPr lang="en-US" sz="2000" b="1" dirty="0"/>
              <a:t>String str</a:t>
            </a:r>
            <a:r>
              <a:rPr lang="en-US" sz="2000" dirty="0"/>
              <a:t>){</a:t>
            </a:r>
          </a:p>
          <a:p>
            <a:pPr marL="114300" indent="0">
              <a:buNone/>
            </a:pPr>
            <a:r>
              <a:rPr lang="en-US" sz="2000" dirty="0"/>
              <a:t>        </a:t>
            </a:r>
            <a:r>
              <a:rPr lang="en-US" sz="2000" dirty="0" err="1"/>
              <a:t>System.out.println</a:t>
            </a:r>
            <a:r>
              <a:rPr lang="en-US" sz="2000" dirty="0"/>
              <a:t>("Hello "+str);</a:t>
            </a:r>
          </a:p>
          <a:p>
            <a:pPr marL="114300" indent="0">
              <a:buNone/>
            </a:pPr>
            <a:r>
              <a:rPr lang="en-US" sz="2000" dirty="0"/>
              <a:t>    }</a:t>
            </a:r>
          </a:p>
          <a:p>
            <a:pPr marL="114300" indent="0">
              <a:buNone/>
            </a:pPr>
            <a:r>
              <a:rPr lang="en-US" sz="2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154043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FDA3F-4040-C7B1-1AD9-6C3311B11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AD57D-0D67-4968-0043-6E37266B0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Return type of method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3FD00C-FB71-28F5-A63A-4663CEB70C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61440"/>
            <a:ext cx="10515600" cy="5313680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2000" dirty="0"/>
              <a:t>public class </a:t>
            </a:r>
            <a:r>
              <a:rPr lang="en-US" sz="2000" dirty="0" err="1"/>
              <a:t>BasicMethods</a:t>
            </a:r>
            <a:r>
              <a:rPr lang="en-US" sz="2000" dirty="0"/>
              <a:t> {</a:t>
            </a:r>
          </a:p>
          <a:p>
            <a:pPr marL="114300" indent="0">
              <a:buNone/>
            </a:pPr>
            <a:r>
              <a:rPr lang="en-US" sz="2000" dirty="0"/>
              <a:t>    public static void main(String[] </a:t>
            </a:r>
            <a:r>
              <a:rPr lang="en-US" sz="2000" dirty="0" err="1"/>
              <a:t>args</a:t>
            </a:r>
            <a:r>
              <a:rPr lang="en-US" sz="2000" dirty="0"/>
              <a:t>) {</a:t>
            </a:r>
          </a:p>
          <a:p>
            <a:pPr marL="114300" indent="0">
              <a:buNone/>
            </a:pPr>
            <a:r>
              <a:rPr lang="en-US" sz="2000" dirty="0"/>
              <a:t>        </a:t>
            </a:r>
            <a:r>
              <a:rPr lang="en-US" sz="2000" dirty="0" err="1"/>
              <a:t>BasicMethods</a:t>
            </a:r>
            <a:r>
              <a:rPr lang="en-US" sz="2000" dirty="0"/>
              <a:t> basic = new </a:t>
            </a:r>
            <a:r>
              <a:rPr lang="en-US" sz="2000" dirty="0" err="1"/>
              <a:t>BasicMethods</a:t>
            </a:r>
            <a:r>
              <a:rPr lang="en-US" sz="2000" dirty="0"/>
              <a:t>();</a:t>
            </a:r>
          </a:p>
          <a:p>
            <a:pPr marL="114300" indent="0">
              <a:buNone/>
            </a:pPr>
            <a:r>
              <a:rPr lang="en-US" sz="2000" b="1" dirty="0"/>
              <a:t>        int answer = </a:t>
            </a:r>
            <a:r>
              <a:rPr lang="en-US" sz="2000" b="1" dirty="0" err="1"/>
              <a:t>basic.sayHello</a:t>
            </a:r>
            <a:r>
              <a:rPr lang="en-US" sz="2000" b="1" dirty="0"/>
              <a:t>(5 , 10);</a:t>
            </a:r>
          </a:p>
          <a:p>
            <a:pPr marL="114300" indent="0">
              <a:buNone/>
            </a:pPr>
            <a:r>
              <a:rPr lang="en-US" sz="2000" dirty="0"/>
              <a:t>        </a:t>
            </a:r>
            <a:r>
              <a:rPr lang="en-US" sz="2000" dirty="0" err="1"/>
              <a:t>System.out.println</a:t>
            </a:r>
            <a:r>
              <a:rPr lang="en-US" sz="2000" dirty="0"/>
              <a:t>(answer);</a:t>
            </a:r>
          </a:p>
          <a:p>
            <a:pPr marL="114300" indent="0">
              <a:buNone/>
            </a:pPr>
            <a:r>
              <a:rPr lang="en-US" sz="2000" dirty="0"/>
              <a:t>    }</a:t>
            </a:r>
          </a:p>
          <a:p>
            <a:pPr marL="114300" indent="0">
              <a:buNone/>
            </a:pPr>
            <a:endParaRPr lang="en-US" sz="2000" dirty="0"/>
          </a:p>
          <a:p>
            <a:pPr marL="114300" indent="0">
              <a:buNone/>
            </a:pPr>
            <a:r>
              <a:rPr lang="en-US" sz="2000" dirty="0"/>
              <a:t>    public </a:t>
            </a:r>
            <a:r>
              <a:rPr lang="en-US" sz="2000" b="1" dirty="0"/>
              <a:t>int</a:t>
            </a:r>
            <a:r>
              <a:rPr lang="en-US" sz="2000" dirty="0"/>
              <a:t> </a:t>
            </a:r>
            <a:r>
              <a:rPr lang="en-US" sz="2000" dirty="0" err="1"/>
              <a:t>sayHello</a:t>
            </a:r>
            <a:r>
              <a:rPr lang="en-US" sz="2000" dirty="0"/>
              <a:t>(int a , int b){</a:t>
            </a:r>
          </a:p>
          <a:p>
            <a:pPr marL="114300" indent="0">
              <a:buNone/>
            </a:pPr>
            <a:r>
              <a:rPr lang="en-US" sz="2000" dirty="0"/>
              <a:t>        int sum = </a:t>
            </a:r>
            <a:r>
              <a:rPr lang="en-US" sz="2000" dirty="0" err="1"/>
              <a:t>a+b</a:t>
            </a:r>
            <a:r>
              <a:rPr lang="en-US" sz="2000" dirty="0"/>
              <a:t>;</a:t>
            </a:r>
          </a:p>
          <a:p>
            <a:pPr marL="114300" indent="0">
              <a:buNone/>
            </a:pPr>
            <a:r>
              <a:rPr lang="en-US" sz="2000" b="1" dirty="0"/>
              <a:t>        return sum;</a:t>
            </a:r>
          </a:p>
          <a:p>
            <a:pPr marL="114300" indent="0">
              <a:buNone/>
            </a:pPr>
            <a:r>
              <a:rPr lang="en-US" sz="2000" dirty="0"/>
              <a:t>    }</a:t>
            </a:r>
          </a:p>
          <a:p>
            <a:pPr marL="114300" indent="0">
              <a:buNone/>
            </a:pPr>
            <a:r>
              <a:rPr lang="en-US" sz="2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143999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02037-50F6-8657-E1CB-5D9DF2F21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8C28A-3E7F-B59C-21DA-43B4ADB79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 Prime method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A65FEA-A384-8E6C-69D7-67AECDEE4B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61440"/>
            <a:ext cx="10515600" cy="5313680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2000" dirty="0"/>
              <a:t>public class </a:t>
            </a:r>
            <a:r>
              <a:rPr lang="en-US" sz="2000" dirty="0" err="1"/>
              <a:t>BasicMethods</a:t>
            </a:r>
            <a:r>
              <a:rPr lang="en-US" sz="2000" dirty="0"/>
              <a:t> {</a:t>
            </a:r>
          </a:p>
          <a:p>
            <a:pPr marL="114300" indent="0">
              <a:buNone/>
            </a:pPr>
            <a:r>
              <a:rPr lang="en-US" sz="2000" dirty="0"/>
              <a:t> public static void main(String[] </a:t>
            </a:r>
            <a:r>
              <a:rPr lang="en-US" sz="2000" dirty="0" err="1"/>
              <a:t>args</a:t>
            </a:r>
            <a:r>
              <a:rPr lang="en-US" sz="2000" dirty="0"/>
              <a:t>) {</a:t>
            </a:r>
          </a:p>
          <a:p>
            <a:pPr marL="114300" indent="0">
              <a:buNone/>
            </a:pPr>
            <a:r>
              <a:rPr lang="en-US" sz="2000" dirty="0"/>
              <a:t>        Scanner </a:t>
            </a:r>
            <a:r>
              <a:rPr lang="en-US" sz="2000" dirty="0" err="1"/>
              <a:t>sc</a:t>
            </a:r>
            <a:r>
              <a:rPr lang="en-US" sz="2000" dirty="0"/>
              <a:t> = new Scanner(System.in);</a:t>
            </a:r>
          </a:p>
          <a:p>
            <a:pPr marL="114300" indent="0">
              <a:buNone/>
            </a:pPr>
            <a:r>
              <a:rPr lang="en-US" sz="2000" dirty="0"/>
              <a:t>        int </a:t>
            </a:r>
            <a:r>
              <a:rPr lang="en-US" sz="2000" dirty="0" err="1"/>
              <a:t>val</a:t>
            </a:r>
            <a:r>
              <a:rPr lang="en-US" sz="2000" dirty="0"/>
              <a:t> = </a:t>
            </a:r>
            <a:r>
              <a:rPr lang="en-US" sz="2000" dirty="0" err="1"/>
              <a:t>sc.nextInt</a:t>
            </a:r>
            <a:r>
              <a:rPr lang="en-US" sz="2000" dirty="0"/>
              <a:t>();</a:t>
            </a:r>
          </a:p>
          <a:p>
            <a:pPr marL="114300" indent="0">
              <a:buNone/>
            </a:pPr>
            <a:r>
              <a:rPr lang="en-US" sz="2000" dirty="0"/>
              <a:t>        </a:t>
            </a:r>
            <a:r>
              <a:rPr lang="en-US" sz="2000" dirty="0" err="1"/>
              <a:t>BasicMethods</a:t>
            </a:r>
            <a:r>
              <a:rPr lang="en-US" sz="2000" dirty="0"/>
              <a:t> basic = new </a:t>
            </a:r>
            <a:r>
              <a:rPr lang="en-US" sz="2000" dirty="0" err="1"/>
              <a:t>BasicMethods</a:t>
            </a:r>
            <a:r>
              <a:rPr lang="en-US" sz="2000" dirty="0"/>
              <a:t>();</a:t>
            </a:r>
          </a:p>
          <a:p>
            <a:pPr marL="114300" indent="0">
              <a:buNone/>
            </a:pPr>
            <a:r>
              <a:rPr lang="en-US" sz="2000" dirty="0"/>
              <a:t>        </a:t>
            </a:r>
            <a:r>
              <a:rPr lang="en-US" sz="2000" dirty="0" err="1"/>
              <a:t>boolean</a:t>
            </a:r>
            <a:r>
              <a:rPr lang="en-US" sz="2000" dirty="0"/>
              <a:t> check = </a:t>
            </a:r>
            <a:r>
              <a:rPr lang="en-US" sz="2000" dirty="0" err="1"/>
              <a:t>basic.checkPrime</a:t>
            </a:r>
            <a:r>
              <a:rPr lang="en-US" sz="2000" dirty="0"/>
              <a:t>(</a:t>
            </a:r>
            <a:r>
              <a:rPr lang="en-US" sz="2000" dirty="0" err="1"/>
              <a:t>val</a:t>
            </a:r>
            <a:r>
              <a:rPr lang="en-US" sz="2000" dirty="0"/>
              <a:t>);</a:t>
            </a:r>
          </a:p>
          <a:p>
            <a:pPr marL="114300" indent="0">
              <a:buNone/>
            </a:pPr>
            <a:r>
              <a:rPr lang="en-US" sz="2000" dirty="0"/>
              <a:t>        if(check == true)</a:t>
            </a:r>
          </a:p>
          <a:p>
            <a:pPr marL="114300" indent="0">
              <a:buNone/>
            </a:pPr>
            <a:r>
              <a:rPr lang="en-US" sz="2000" dirty="0"/>
              <a:t>            </a:t>
            </a:r>
            <a:r>
              <a:rPr lang="en-US" sz="2000" dirty="0" err="1"/>
              <a:t>System.out.println</a:t>
            </a:r>
            <a:r>
              <a:rPr lang="en-US" sz="2000" dirty="0"/>
              <a:t>("The number is prime");</a:t>
            </a:r>
          </a:p>
          <a:p>
            <a:pPr marL="114300" indent="0">
              <a:buNone/>
            </a:pPr>
            <a:r>
              <a:rPr lang="en-US" sz="2000" dirty="0"/>
              <a:t>        else</a:t>
            </a:r>
          </a:p>
          <a:p>
            <a:pPr marL="114300" indent="0">
              <a:buNone/>
            </a:pPr>
            <a:r>
              <a:rPr lang="en-US" sz="2000" dirty="0"/>
              <a:t>            </a:t>
            </a:r>
            <a:r>
              <a:rPr lang="en-US" sz="2000" dirty="0" err="1"/>
              <a:t>System.out.println</a:t>
            </a:r>
            <a:r>
              <a:rPr lang="en-US" sz="2000" dirty="0"/>
              <a:t>("The Number is not prime");</a:t>
            </a:r>
          </a:p>
          <a:p>
            <a:pPr marL="114300" indent="0">
              <a:buNone/>
            </a:pPr>
            <a:endParaRPr lang="en-US" sz="2000" dirty="0"/>
          </a:p>
          <a:p>
            <a:pPr marL="114300" indent="0">
              <a:buNone/>
            </a:pPr>
            <a:r>
              <a:rPr lang="en-US" sz="2000" dirty="0"/>
              <a:t>    }</a:t>
            </a:r>
          </a:p>
          <a:p>
            <a:pPr marL="11430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8699846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5F228-44E3-0616-C16A-4EB54D005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0811A-C9E3-3AFF-17F9-1852A7908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 Prime method (Part 2)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1A4A71-8900-A278-1367-95994D94B1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61440"/>
            <a:ext cx="10515600" cy="5313680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endParaRPr lang="en-US" sz="2000" dirty="0"/>
          </a:p>
          <a:p>
            <a:pPr marL="114300" indent="0">
              <a:buNone/>
            </a:pPr>
            <a:r>
              <a:rPr lang="en-US" sz="2000" dirty="0"/>
              <a:t>    public </a:t>
            </a:r>
            <a:r>
              <a:rPr lang="en-US" sz="2000" dirty="0" err="1"/>
              <a:t>boolean</a:t>
            </a:r>
            <a:r>
              <a:rPr lang="en-US" sz="2000" dirty="0"/>
              <a:t> </a:t>
            </a:r>
            <a:r>
              <a:rPr lang="en-US" sz="2000" dirty="0" err="1"/>
              <a:t>checkPrime</a:t>
            </a:r>
            <a:r>
              <a:rPr lang="en-US" sz="2000" dirty="0"/>
              <a:t>(int num){</a:t>
            </a:r>
          </a:p>
          <a:p>
            <a:pPr marL="114300" indent="0">
              <a:buNone/>
            </a:pPr>
            <a:r>
              <a:rPr lang="en-US" sz="2000" dirty="0"/>
              <a:t>        </a:t>
            </a:r>
            <a:r>
              <a:rPr lang="en-US" sz="2000" dirty="0" err="1"/>
              <a:t>boolean</a:t>
            </a:r>
            <a:r>
              <a:rPr lang="en-US" sz="2000" dirty="0"/>
              <a:t> flag = true;</a:t>
            </a:r>
          </a:p>
          <a:p>
            <a:pPr marL="114300" indent="0">
              <a:buNone/>
            </a:pPr>
            <a:r>
              <a:rPr lang="en-US" sz="2000" dirty="0"/>
              <a:t>        for (int </a:t>
            </a:r>
            <a:r>
              <a:rPr lang="en-US" sz="2000" dirty="0" err="1"/>
              <a:t>i</a:t>
            </a:r>
            <a:r>
              <a:rPr lang="en-US" sz="2000" dirty="0"/>
              <a:t> = 2; </a:t>
            </a:r>
            <a:r>
              <a:rPr lang="en-US" sz="2000" dirty="0" err="1"/>
              <a:t>i</a:t>
            </a:r>
            <a:r>
              <a:rPr lang="en-US" sz="2000" dirty="0"/>
              <a:t> &lt;num; </a:t>
            </a:r>
            <a:r>
              <a:rPr lang="en-US" sz="2000" dirty="0" err="1"/>
              <a:t>i</a:t>
            </a:r>
            <a:r>
              <a:rPr lang="en-US" sz="2000" dirty="0"/>
              <a:t>++) {</a:t>
            </a:r>
          </a:p>
          <a:p>
            <a:pPr marL="114300" indent="0">
              <a:buNone/>
            </a:pPr>
            <a:r>
              <a:rPr lang="en-US" sz="2000" dirty="0"/>
              <a:t>            if (num % </a:t>
            </a:r>
            <a:r>
              <a:rPr lang="en-US" sz="2000" dirty="0" err="1"/>
              <a:t>i</a:t>
            </a:r>
            <a:r>
              <a:rPr lang="en-US" sz="2000" dirty="0"/>
              <a:t> == 0) {</a:t>
            </a:r>
          </a:p>
          <a:p>
            <a:pPr marL="114300" indent="0">
              <a:buNone/>
            </a:pPr>
            <a:r>
              <a:rPr lang="en-US" sz="2000" dirty="0"/>
              <a:t>                flag = false;</a:t>
            </a:r>
          </a:p>
          <a:p>
            <a:pPr marL="114300" indent="0">
              <a:buNone/>
            </a:pPr>
            <a:r>
              <a:rPr lang="en-US" sz="2000" dirty="0"/>
              <a:t>                break;</a:t>
            </a:r>
          </a:p>
          <a:p>
            <a:pPr marL="114300" indent="0">
              <a:buNone/>
            </a:pPr>
            <a:r>
              <a:rPr lang="en-US" sz="2000" dirty="0"/>
              <a:t>            }</a:t>
            </a:r>
          </a:p>
          <a:p>
            <a:pPr marL="114300" indent="0">
              <a:buNone/>
            </a:pPr>
            <a:r>
              <a:rPr lang="en-US" sz="2000" dirty="0"/>
              <a:t>        }</a:t>
            </a:r>
          </a:p>
          <a:p>
            <a:pPr marL="114300" indent="0">
              <a:buNone/>
            </a:pPr>
            <a:r>
              <a:rPr lang="en-US" sz="2000" dirty="0"/>
              <a:t>       return flag;</a:t>
            </a:r>
          </a:p>
          <a:p>
            <a:pPr marL="114300" indent="0">
              <a:buNone/>
            </a:pPr>
            <a:r>
              <a:rPr lang="en-US" sz="2000" dirty="0"/>
              <a:t>    }</a:t>
            </a:r>
          </a:p>
          <a:p>
            <a:pPr marL="114300" indent="0">
              <a:buNone/>
            </a:pPr>
            <a:r>
              <a:rPr lang="en-US" sz="2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694248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322A1-B599-B009-6825-BE771D3A0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B54F9-CB85-5C64-D519-5C0B9C9CC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Check Prime number between 1 to 100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196D79-B4E7-5DBF-D196-7892086DBF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61440"/>
            <a:ext cx="10515600" cy="5313680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2000" dirty="0"/>
              <a:t> public static void main(String[] </a:t>
            </a:r>
            <a:r>
              <a:rPr lang="en-US" sz="2000" dirty="0" err="1"/>
              <a:t>args</a:t>
            </a:r>
            <a:r>
              <a:rPr lang="en-US" sz="2000" dirty="0"/>
              <a:t>) {</a:t>
            </a:r>
          </a:p>
          <a:p>
            <a:pPr marL="114300" indent="0">
              <a:buNone/>
            </a:pPr>
            <a:endParaRPr lang="en-US" sz="2000" dirty="0"/>
          </a:p>
          <a:p>
            <a:pPr marL="114300" indent="0">
              <a:buNone/>
            </a:pPr>
            <a:r>
              <a:rPr lang="en-US" sz="2000" dirty="0"/>
              <a:t>        </a:t>
            </a:r>
            <a:r>
              <a:rPr lang="en-US" sz="2000" dirty="0" err="1"/>
              <a:t>BasicMethods</a:t>
            </a:r>
            <a:r>
              <a:rPr lang="en-US" sz="2000" dirty="0"/>
              <a:t> basic = new </a:t>
            </a:r>
            <a:r>
              <a:rPr lang="en-US" sz="2000" dirty="0" err="1"/>
              <a:t>BasicMethods</a:t>
            </a:r>
            <a:r>
              <a:rPr lang="en-US" sz="2000" dirty="0"/>
              <a:t>();</a:t>
            </a:r>
          </a:p>
          <a:p>
            <a:pPr marL="114300" indent="0">
              <a:buNone/>
            </a:pPr>
            <a:r>
              <a:rPr lang="en-US" sz="2000" dirty="0"/>
              <a:t>        for(int </a:t>
            </a:r>
            <a:r>
              <a:rPr lang="en-US" sz="2000" dirty="0" err="1"/>
              <a:t>i</a:t>
            </a:r>
            <a:r>
              <a:rPr lang="en-US" sz="2000" dirty="0"/>
              <a:t>=2 ; </a:t>
            </a:r>
            <a:r>
              <a:rPr lang="en-US" sz="2000" dirty="0" err="1"/>
              <a:t>i</a:t>
            </a:r>
            <a:r>
              <a:rPr lang="en-US" sz="2000" dirty="0"/>
              <a:t>&lt;= 100 ; </a:t>
            </a:r>
            <a:r>
              <a:rPr lang="en-US" sz="2000" dirty="0" err="1"/>
              <a:t>i</a:t>
            </a:r>
            <a:r>
              <a:rPr lang="en-US" sz="2000" dirty="0"/>
              <a:t>++) {</a:t>
            </a:r>
          </a:p>
          <a:p>
            <a:pPr marL="114300" indent="0">
              <a:buNone/>
            </a:pPr>
            <a:r>
              <a:rPr lang="en-US" sz="2000" dirty="0"/>
              <a:t>            </a:t>
            </a:r>
            <a:r>
              <a:rPr lang="en-US" sz="2000" dirty="0" err="1"/>
              <a:t>boolean</a:t>
            </a:r>
            <a:r>
              <a:rPr lang="en-US" sz="2000" dirty="0"/>
              <a:t> check = </a:t>
            </a:r>
            <a:r>
              <a:rPr lang="en-US" sz="2000" dirty="0" err="1"/>
              <a:t>basic.checkPrime</a:t>
            </a:r>
            <a:r>
              <a:rPr lang="en-US" sz="2000" dirty="0"/>
              <a:t>( </a:t>
            </a:r>
            <a:r>
              <a:rPr lang="en-US" sz="2000" dirty="0" err="1"/>
              <a:t>i</a:t>
            </a:r>
            <a:r>
              <a:rPr lang="en-US" sz="2000" dirty="0"/>
              <a:t> );</a:t>
            </a:r>
          </a:p>
          <a:p>
            <a:pPr marL="114300" indent="0">
              <a:buNone/>
            </a:pPr>
            <a:r>
              <a:rPr lang="en-US" sz="2000" dirty="0"/>
              <a:t>            if (check == true)</a:t>
            </a:r>
          </a:p>
          <a:p>
            <a:pPr marL="114300" indent="0">
              <a:buNone/>
            </a:pPr>
            <a:r>
              <a:rPr lang="en-US" sz="2000" dirty="0"/>
              <a:t>                </a:t>
            </a:r>
            <a:r>
              <a:rPr lang="en-US" sz="2000" dirty="0" err="1"/>
              <a:t>System.out.println</a:t>
            </a:r>
            <a:r>
              <a:rPr lang="en-US" sz="2000" dirty="0"/>
              <a:t>("The number "+ </a:t>
            </a:r>
            <a:r>
              <a:rPr lang="en-US" sz="2000" dirty="0" err="1"/>
              <a:t>i</a:t>
            </a:r>
            <a:r>
              <a:rPr lang="en-US" sz="2000" dirty="0"/>
              <a:t> +" is prime");</a:t>
            </a:r>
          </a:p>
          <a:p>
            <a:pPr marL="114300" indent="0">
              <a:buNone/>
            </a:pPr>
            <a:r>
              <a:rPr lang="en-US" sz="2000" dirty="0"/>
              <a:t>        }</a:t>
            </a:r>
          </a:p>
          <a:p>
            <a:pPr marL="114300" indent="0">
              <a:buNone/>
            </a:pPr>
            <a:r>
              <a:rPr lang="en-US" sz="2000" dirty="0"/>
              <a:t>    }</a:t>
            </a:r>
          </a:p>
          <a:p>
            <a:pPr marL="114300" indent="0">
              <a:buNone/>
            </a:pPr>
            <a:endParaRPr lang="en-US" sz="2000" dirty="0"/>
          </a:p>
          <a:p>
            <a:pPr marL="114300" indent="0">
              <a:buNone/>
            </a:pPr>
            <a:r>
              <a:rPr lang="en-US" sz="2000" dirty="0"/>
              <a:t>// </a:t>
            </a:r>
            <a:r>
              <a:rPr lang="en-US" sz="2000" dirty="0" err="1"/>
              <a:t>checkPrime</a:t>
            </a:r>
            <a:r>
              <a:rPr lang="en-US" sz="2000" dirty="0"/>
              <a:t> Method will be same as previous example</a:t>
            </a:r>
          </a:p>
        </p:txBody>
      </p:sp>
    </p:spTree>
    <p:extLst>
      <p:ext uri="{BB962C8B-B14F-4D97-AF65-F5344CB8AC3E}">
        <p14:creationId xmlns:p14="http://schemas.microsoft.com/office/powerpoint/2010/main" val="40805463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n-US"/>
              <a:t>FUNCTION/METHOD</a:t>
            </a:r>
            <a:endParaRPr/>
          </a:p>
        </p:txBody>
      </p:sp>
      <p:sp>
        <p:nvSpPr>
          <p:cNvPr id="102" name="Google Shape;102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public static DataType staticFuncName();</a:t>
            </a:r>
            <a:endParaRPr/>
          </a:p>
          <a:p>
            <a:pPr marL="457200" lvl="1" indent="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callFunction(){</a:t>
            </a:r>
            <a:endParaRPr/>
          </a:p>
          <a:p>
            <a:pPr marL="457200" lvl="1" indent="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staticFuncName();</a:t>
            </a:r>
            <a:endParaRPr/>
          </a:p>
          <a:p>
            <a:pPr marL="457200" lvl="1" indent="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}</a:t>
            </a:r>
            <a:endParaRPr/>
          </a:p>
          <a:p>
            <a:pPr marL="2286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public DataType funcName(String s1, String s2);</a:t>
            </a:r>
            <a:endParaRPr/>
          </a:p>
          <a:p>
            <a:pPr marL="457200" lvl="1" indent="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callFunction(){</a:t>
            </a:r>
            <a:endParaRPr/>
          </a:p>
          <a:p>
            <a:pPr marL="457200" lvl="1" indent="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ClassName obj=new ClassName();</a:t>
            </a:r>
            <a:endParaRPr/>
          </a:p>
          <a:p>
            <a:pPr marL="457200" lvl="1" indent="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Obj.funcName();</a:t>
            </a:r>
            <a:endParaRPr/>
          </a:p>
          <a:p>
            <a:pPr marL="457200" lvl="1" indent="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}</a:t>
            </a:r>
            <a:endParaRPr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005fa368f6_0_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Factorial of a number Explanation</a:t>
            </a:r>
            <a:endParaRPr dirty="0"/>
          </a:p>
        </p:txBody>
      </p:sp>
      <p:sp>
        <p:nvSpPr>
          <p:cNvPr id="116" name="Google Shape;116;g3005fa368f6_0_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4861560" cy="3559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factorial(4) = 4 * factorial(3)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factorial(3) = 3 * factorial(2)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factorial(2) = 2 * factorial(1)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factorial(1) = 1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Time complexity: O(n)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CB53B55-2208-CEC7-A65C-BB189E97318F}"/>
              </a:ext>
            </a:extLst>
          </p:cNvPr>
          <p:cNvSpPr txBox="1"/>
          <p:nvPr/>
        </p:nvSpPr>
        <p:spPr>
          <a:xfrm>
            <a:off x="5628640" y="1690825"/>
            <a:ext cx="5323840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dirty="0"/>
          </a:p>
          <a:p>
            <a:r>
              <a:rPr lang="pt-BR" sz="2800" dirty="0"/>
              <a:t>1! = 1</a:t>
            </a:r>
          </a:p>
          <a:p>
            <a:r>
              <a:rPr lang="pt-BR" sz="2800" dirty="0"/>
              <a:t>2! = 2*1 = 2 * 1!</a:t>
            </a:r>
          </a:p>
          <a:p>
            <a:r>
              <a:rPr lang="pt-BR" sz="2800" dirty="0"/>
              <a:t>3! = 3 * 2 * 1 = 3 * 2!</a:t>
            </a:r>
          </a:p>
          <a:p>
            <a:r>
              <a:rPr lang="pt-BR" sz="2800" dirty="0"/>
              <a:t>4! = 4 * 3 * 2 * 1 = 4 * 3! </a:t>
            </a:r>
          </a:p>
          <a:p>
            <a:endParaRPr lang="pt-BR" sz="2800" dirty="0"/>
          </a:p>
          <a:p>
            <a:r>
              <a:rPr lang="pt-BR" sz="2800" dirty="0"/>
              <a:t>So , f(n) = n! = n * (n-1)!</a:t>
            </a:r>
            <a:endParaRPr lang="en-US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012B1-020D-A05A-8F35-3A9627491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Factorial using Iteration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998DC1-060E-22B5-02B7-9B7341B8EB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marL="114300" indent="0">
              <a:buNone/>
            </a:pPr>
            <a:r>
              <a:rPr lang="en-US" dirty="0"/>
              <a:t> 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 factorial(4) );</a:t>
            </a:r>
          </a:p>
          <a:p>
            <a:pPr marL="114300" indent="0">
              <a:buNone/>
            </a:pPr>
            <a:r>
              <a:rPr lang="en-US" dirty="0"/>
              <a:t>    }</a:t>
            </a:r>
          </a:p>
          <a:p>
            <a:pPr marL="114300" indent="0">
              <a:buNone/>
            </a:pPr>
            <a:r>
              <a:rPr lang="en-US" dirty="0"/>
              <a:t>    public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b="1" i="1" dirty="0">
                <a:solidFill>
                  <a:schemeClr val="accent1"/>
                </a:solidFill>
              </a:rPr>
              <a:t>static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int factorial(int n){</a:t>
            </a:r>
          </a:p>
          <a:p>
            <a:pPr marL="114300" indent="0">
              <a:buNone/>
            </a:pPr>
            <a:r>
              <a:rPr lang="en-US" dirty="0"/>
              <a:t>        int fact = 1;</a:t>
            </a:r>
          </a:p>
          <a:p>
            <a:pPr marL="114300" indent="0">
              <a:buNone/>
            </a:pPr>
            <a:r>
              <a:rPr lang="en-US" dirty="0"/>
              <a:t>        for( int </a:t>
            </a:r>
            <a:r>
              <a:rPr lang="en-US" dirty="0" err="1"/>
              <a:t>i</a:t>
            </a:r>
            <a:r>
              <a:rPr lang="en-US" dirty="0"/>
              <a:t>=1 ; </a:t>
            </a:r>
            <a:r>
              <a:rPr lang="en-US" dirty="0" err="1"/>
              <a:t>i</a:t>
            </a:r>
            <a:r>
              <a:rPr lang="en-US" dirty="0"/>
              <a:t>&lt;=n ; </a:t>
            </a:r>
            <a:r>
              <a:rPr lang="en-US" dirty="0" err="1"/>
              <a:t>i</a:t>
            </a:r>
            <a:r>
              <a:rPr lang="en-US" dirty="0"/>
              <a:t>++ )</a:t>
            </a:r>
          </a:p>
          <a:p>
            <a:pPr marL="114300" indent="0">
              <a:buNone/>
            </a:pPr>
            <a:r>
              <a:rPr lang="en-US" dirty="0"/>
              <a:t>            fact = fact*</a:t>
            </a:r>
            <a:r>
              <a:rPr lang="en-US" dirty="0" err="1"/>
              <a:t>i</a:t>
            </a:r>
            <a:r>
              <a:rPr lang="en-US" dirty="0"/>
              <a:t>;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       return fact;</a:t>
            </a:r>
          </a:p>
          <a:p>
            <a:pPr marL="114300" indent="0">
              <a:buNone/>
            </a:pPr>
            <a:r>
              <a:rPr lang="en-US" dirty="0"/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32670789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005fa368f6_0_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200" b="1" dirty="0"/>
              <a:t>Recursion</a:t>
            </a:r>
            <a:br>
              <a:rPr lang="en-US" sz="3200" b="1" dirty="0"/>
            </a:br>
            <a:r>
              <a:rPr lang="en-US" sz="3200" b="1" dirty="0"/>
              <a:t>[ </a:t>
            </a: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</a:rPr>
              <a:t>Recursion means self calling function</a:t>
            </a:r>
            <a:r>
              <a:rPr lang="en-US" sz="3200" b="1" dirty="0">
                <a:solidFill>
                  <a:schemeClr val="tx1"/>
                </a:solidFill>
              </a:rPr>
              <a:t> ]</a:t>
            </a:r>
            <a:endParaRPr sz="3200" b="1" dirty="0">
              <a:solidFill>
                <a:schemeClr val="tx1"/>
              </a:solidFill>
            </a:endParaRPr>
          </a:p>
        </p:txBody>
      </p:sp>
      <p:sp>
        <p:nvSpPr>
          <p:cNvPr id="109" name="Google Shape;109;g3005fa368f6_0_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4610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 dirty="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public class </a:t>
            </a:r>
            <a:r>
              <a:rPr lang="en-US" sz="1350" dirty="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Recursion </a:t>
            </a: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{</a:t>
            </a:r>
            <a:endParaRPr sz="1350" dirty="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-US" sz="1350" dirty="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public static void </a:t>
            </a:r>
            <a:r>
              <a:rPr lang="en-US" sz="1350" dirty="0">
                <a:solidFill>
                  <a:srgbClr val="00627A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main</a:t>
            </a: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1350" dirty="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String</a:t>
            </a: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[] </a:t>
            </a:r>
            <a:r>
              <a:rPr lang="en-US" sz="1350" dirty="0" err="1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args</a:t>
            </a: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 {</a:t>
            </a:r>
            <a:endParaRPr sz="1350" dirty="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</a:t>
            </a:r>
            <a:r>
              <a:rPr lang="en-US" sz="1350" dirty="0" err="1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System</a:t>
            </a:r>
            <a:r>
              <a:rPr lang="en-US" sz="1350" dirty="0" err="1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1350" i="1" dirty="0" err="1">
                <a:solidFill>
                  <a:srgbClr val="871094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r>
              <a:rPr lang="en-US" sz="1350" dirty="0" err="1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.println</a:t>
            </a: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 </a:t>
            </a:r>
            <a:r>
              <a:rPr lang="en-US" sz="1350" i="1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factorial</a:t>
            </a: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1350" dirty="0">
                <a:solidFill>
                  <a:srgbClr val="1750EB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4</a:t>
            </a: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 );</a:t>
            </a:r>
            <a:endParaRPr sz="1350" dirty="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}</a:t>
            </a:r>
            <a:endParaRPr sz="1350" dirty="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-US" sz="1350" dirty="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public static int </a:t>
            </a:r>
            <a:r>
              <a:rPr lang="en-US" sz="1350" dirty="0">
                <a:solidFill>
                  <a:srgbClr val="00627A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factorial</a:t>
            </a: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1350" dirty="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int </a:t>
            </a: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n){</a:t>
            </a:r>
            <a:endParaRPr sz="1350" dirty="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</a:t>
            </a:r>
            <a:r>
              <a:rPr lang="en-US" sz="1350" dirty="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if</a:t>
            </a: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(n==</a:t>
            </a:r>
            <a:r>
              <a:rPr lang="en-US" sz="1350" dirty="0">
                <a:solidFill>
                  <a:srgbClr val="1750EB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){</a:t>
            </a:r>
            <a:endParaRPr sz="1350" dirty="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    </a:t>
            </a:r>
            <a:r>
              <a:rPr lang="en-US" sz="1350" dirty="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return </a:t>
            </a:r>
            <a:r>
              <a:rPr lang="en-US" sz="1350" dirty="0">
                <a:solidFill>
                  <a:srgbClr val="1750EB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endParaRPr sz="1350" dirty="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}</a:t>
            </a:r>
            <a:endParaRPr sz="1350" dirty="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</a:t>
            </a:r>
            <a:r>
              <a:rPr lang="en-US" sz="1350" dirty="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return </a:t>
            </a: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n * </a:t>
            </a:r>
            <a:r>
              <a:rPr lang="en-US" sz="1350" i="1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factorial</a:t>
            </a: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(n-</a:t>
            </a:r>
            <a:r>
              <a:rPr lang="en-US" sz="1350" dirty="0">
                <a:solidFill>
                  <a:srgbClr val="1750EB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 ;</a:t>
            </a:r>
            <a:endParaRPr sz="1350" dirty="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}</a:t>
            </a:r>
            <a:endParaRPr sz="1350" dirty="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sz="1350" dirty="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endParaRPr sz="17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57FB9D-F167-0084-7E87-05E57BE91D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3352" y="1918744"/>
            <a:ext cx="5353368" cy="425808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3E30B-282C-E701-0291-1CD211AA6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Calculate Fibonacci series till the nth position by using recursion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6C70F5-688F-2E27-A214-B334DC75EA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F9A76D-6FBA-6D23-34AC-14C0BFC387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825624"/>
            <a:ext cx="9088121" cy="4320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4360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005fa368f6_0_5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Time complexity</a:t>
            </a:r>
            <a:endParaRPr/>
          </a:p>
        </p:txBody>
      </p:sp>
      <p:sp>
        <p:nvSpPr>
          <p:cNvPr id="123" name="Google Shape;123;g3005fa368f6_0_5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sz="4000"/>
          </a:p>
        </p:txBody>
      </p:sp>
      <p:graphicFrame>
        <p:nvGraphicFramePr>
          <p:cNvPr id="124" name="Google Shape;124;g3005fa368f6_0_50"/>
          <p:cNvGraphicFramePr/>
          <p:nvPr/>
        </p:nvGraphicFramePr>
        <p:xfrm>
          <a:off x="952500" y="2667000"/>
          <a:ext cx="10287000" cy="3444060"/>
        </p:xfrm>
        <a:graphic>
          <a:graphicData uri="http://schemas.openxmlformats.org/drawingml/2006/table">
            <a:tbl>
              <a:tblPr>
                <a:noFill/>
                <a:tableStyleId>{EEF5B0F8-106C-4EFE-A142-EADC6AEF26FF}</a:tableStyleId>
              </a:tblPr>
              <a:tblGrid>
                <a:gridCol w="2002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55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Time complexity</a:t>
                      </a:r>
                      <a:endParaRPr sz="1400" b="1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Title</a:t>
                      </a:r>
                      <a:endParaRPr sz="1400" b="1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Description</a:t>
                      </a:r>
                      <a:endParaRPr sz="1400" b="1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/>
                        <a:t>O(1)</a:t>
                      </a:r>
                      <a:endParaRPr sz="1400" u="none" strike="noStrike" cap="none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Array Element Access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Accessing an element in an array is constant time because you can directly access any element by its index.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O(n)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/>
                        <a:t>Simple Loop Over an Array</a:t>
                      </a:r>
                      <a:endParaRPr sz="1400" u="none" strike="noStrike" cap="none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A single loop over an array is linear time, as you need to visit each element once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/>
                        <a:t>O(n²)</a:t>
                      </a:r>
                      <a:endParaRPr sz="1400" u="none" strike="noStrike" cap="none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Nested Loops Over a 2D Array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A nested loop over a 2D array results in quadratic time complexity.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/>
                        <a:t>O(log n)</a:t>
                      </a:r>
                      <a:endParaRPr sz="1400" u="none" strike="noStrike" cap="none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/>
                        <a:t>Binary Search</a:t>
                      </a:r>
                      <a:endParaRPr sz="1400" u="none" strike="noStrike" cap="none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Binary search is logarithmic because the search space is halved with each iteration.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/>
                        <a:t>O(n log n)</a:t>
                      </a:r>
                      <a:endParaRPr sz="1400" u="none" strike="noStrike" cap="none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Merge Sort, Quick Sort, Heap Sort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/>
                        <a:t>Merge sort has a time complexity of O(n log n) due to the repeated splitting and merging of subarrays.</a:t>
                      </a:r>
                      <a:endParaRPr sz="1400" u="none" strike="noStrike" cap="none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n-US"/>
              <a:t>ARRAY</a:t>
            </a:r>
            <a:endParaRPr/>
          </a:p>
        </p:txBody>
      </p:sp>
      <p:sp>
        <p:nvSpPr>
          <p:cNvPr id="130" name="Google Shape;130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dirty="0"/>
              <a:t>Single dimensional array (1D)</a:t>
            </a:r>
            <a:endParaRPr dirty="0"/>
          </a:p>
          <a:p>
            <a:pPr marL="2286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dirty="0"/>
              <a:t>Multi dimensional array (2D,3D)</a:t>
            </a: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n-US"/>
              <a:t>1D ARRAY</a:t>
            </a:r>
            <a:br>
              <a:rPr lang="en-US"/>
            </a:br>
            <a:endParaRPr/>
          </a:p>
        </p:txBody>
      </p:sp>
      <p:sp>
        <p:nvSpPr>
          <p:cNvPr id="136" name="Google Shape;136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dirty="0" err="1"/>
              <a:t>DataType</a:t>
            </a:r>
            <a:r>
              <a:rPr lang="en-US" dirty="0"/>
              <a:t>[] </a:t>
            </a:r>
            <a:r>
              <a:rPr lang="en-US" dirty="0" err="1"/>
              <a:t>myArray</a:t>
            </a:r>
            <a:r>
              <a:rPr lang="en-US" dirty="0"/>
              <a:t>=new </a:t>
            </a:r>
            <a:r>
              <a:rPr lang="en-US" dirty="0" err="1"/>
              <a:t>DataType</a:t>
            </a:r>
            <a:r>
              <a:rPr lang="en-US" dirty="0"/>
              <a:t>[length];</a:t>
            </a:r>
            <a:endParaRPr dirty="0"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dirty="0" err="1"/>
              <a:t>myArray</a:t>
            </a:r>
            <a:r>
              <a:rPr lang="en-US" dirty="0"/>
              <a:t>[n1];</a:t>
            </a:r>
            <a:endParaRPr dirty="0"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dirty="0" err="1"/>
              <a:t>myArray</a:t>
            </a:r>
            <a:r>
              <a:rPr lang="en-US" dirty="0"/>
              <a:t>[n2];</a:t>
            </a:r>
            <a:endParaRPr dirty="0"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dirty="0" err="1"/>
              <a:t>myArray</a:t>
            </a:r>
            <a:r>
              <a:rPr lang="en-US" dirty="0"/>
              <a:t>[n3];</a:t>
            </a:r>
            <a:endParaRPr dirty="0"/>
          </a:p>
          <a:p>
            <a:pPr marL="228600" lvl="0" indent="-101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dirty="0"/>
          </a:p>
          <a:p>
            <a:pPr marL="2286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dirty="0" err="1"/>
              <a:t>DataType</a:t>
            </a:r>
            <a:r>
              <a:rPr lang="en-US" dirty="0"/>
              <a:t>[] </a:t>
            </a:r>
            <a:r>
              <a:rPr lang="en-US" dirty="0" err="1"/>
              <a:t>myArray</a:t>
            </a:r>
            <a:r>
              <a:rPr lang="en-US" dirty="0"/>
              <a:t>={n1,n2,n3,…..n};</a:t>
            </a: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n-US"/>
              <a:t>ARRAY EXAMPLE</a:t>
            </a:r>
            <a:endParaRPr/>
          </a:p>
        </p:txBody>
      </p:sp>
      <p:sp>
        <p:nvSpPr>
          <p:cNvPr id="142" name="Google Shape;142;p6"/>
          <p:cNvSpPr txBox="1">
            <a:spLocks noGrp="1"/>
          </p:cNvSpPr>
          <p:nvPr>
            <p:ph type="body" idx="1"/>
          </p:nvPr>
        </p:nvSpPr>
        <p:spPr>
          <a:xfrm>
            <a:off x="1451575" y="1175024"/>
            <a:ext cx="5337300" cy="2862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B3"/>
              </a:buClr>
              <a:buSzPts val="2000"/>
              <a:buFont typeface="JetBrains Mono"/>
              <a:buNone/>
            </a:pPr>
            <a:r>
              <a:rPr lang="en-US" sz="2000" b="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int[]</a:t>
            </a:r>
            <a:r>
              <a:rPr lang="en-US" sz="200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num</a:t>
            </a:r>
            <a:r>
              <a:rPr lang="en-US" sz="20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</a:t>
            </a:r>
            <a:r>
              <a:rPr lang="en-US" sz="2000" b="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new int</a:t>
            </a:r>
            <a:r>
              <a:rPr lang="en-US" sz="20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</a:t>
            </a:r>
            <a:r>
              <a:rPr lang="en-US" sz="2000" b="0" i="0" u="none" strike="noStrike" cap="none" dirty="0">
                <a:solidFill>
                  <a:srgbClr val="1750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</a:t>
            </a:r>
            <a:r>
              <a:rPr lang="en-US" sz="20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];</a:t>
            </a:r>
            <a:br>
              <a:rPr lang="en-US" sz="20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20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num</a:t>
            </a:r>
            <a:r>
              <a:rPr lang="en-US" sz="20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</a:t>
            </a:r>
            <a:r>
              <a:rPr lang="en-US" sz="2000" b="0" i="0" u="none" strike="noStrike" cap="none" dirty="0">
                <a:solidFill>
                  <a:srgbClr val="1750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r>
              <a:rPr lang="en-US" sz="20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]=</a:t>
            </a:r>
            <a:r>
              <a:rPr lang="en-US" sz="2000" b="0" i="0" u="none" strike="noStrike" cap="none" dirty="0">
                <a:solidFill>
                  <a:srgbClr val="1750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r>
              <a:rPr lang="en-US" sz="20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br>
              <a:rPr lang="en-US" sz="20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20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num</a:t>
            </a:r>
            <a:r>
              <a:rPr lang="en-US" sz="20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</a:t>
            </a:r>
            <a:r>
              <a:rPr lang="en-US" sz="2000" b="0" i="0" u="none" strike="noStrike" cap="none" dirty="0">
                <a:solidFill>
                  <a:srgbClr val="1750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r>
              <a:rPr lang="en-US" sz="20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]=</a:t>
            </a:r>
            <a:r>
              <a:rPr lang="en-US" sz="2000" b="0" i="0" u="none" strike="noStrike" cap="none" dirty="0">
                <a:solidFill>
                  <a:srgbClr val="1750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</a:t>
            </a:r>
            <a:r>
              <a:rPr lang="en-US" sz="20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br>
              <a:rPr lang="en-US" sz="20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20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num</a:t>
            </a:r>
            <a:r>
              <a:rPr lang="en-US" sz="20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</a:t>
            </a:r>
            <a:r>
              <a:rPr lang="en-US" sz="2000" b="0" i="0" u="none" strike="noStrike" cap="none" dirty="0">
                <a:solidFill>
                  <a:srgbClr val="1750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</a:t>
            </a:r>
            <a:r>
              <a:rPr lang="en-US" sz="20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]=</a:t>
            </a:r>
            <a:r>
              <a:rPr lang="en-US" sz="2000" b="0" i="0" u="none" strike="noStrike" cap="none" dirty="0">
                <a:solidFill>
                  <a:srgbClr val="1750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</a:t>
            </a:r>
            <a:r>
              <a:rPr lang="en-US" sz="20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br>
              <a:rPr lang="en-US" sz="20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20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num</a:t>
            </a:r>
            <a:r>
              <a:rPr lang="en-US" sz="20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</a:t>
            </a:r>
            <a:r>
              <a:rPr lang="en-US" sz="2000" b="0" i="0" u="none" strike="noStrike" cap="none" dirty="0">
                <a:solidFill>
                  <a:srgbClr val="1750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</a:t>
            </a:r>
            <a:r>
              <a:rPr lang="en-US" sz="20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]=</a:t>
            </a:r>
            <a:r>
              <a:rPr lang="en-US" sz="2000" b="0" i="0" u="none" strike="noStrike" cap="none" dirty="0">
                <a:solidFill>
                  <a:srgbClr val="1750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</a:t>
            </a:r>
            <a:r>
              <a:rPr lang="en-US" sz="20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br>
              <a:rPr lang="en-US" sz="20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20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num</a:t>
            </a:r>
            <a:r>
              <a:rPr lang="en-US" sz="20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</a:t>
            </a:r>
            <a:r>
              <a:rPr lang="en-US" sz="2000" b="0" i="0" u="none" strike="noStrike" cap="none" dirty="0">
                <a:solidFill>
                  <a:srgbClr val="1750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</a:t>
            </a:r>
            <a:r>
              <a:rPr lang="en-US" sz="20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]=</a:t>
            </a:r>
            <a:r>
              <a:rPr lang="en-US" sz="2000" b="0" i="0" u="none" strike="noStrike" cap="none" dirty="0">
                <a:solidFill>
                  <a:srgbClr val="1750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</a:t>
            </a:r>
            <a:r>
              <a:rPr lang="en-US" sz="20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br>
              <a:rPr lang="en-US" sz="20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2000" b="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</a:t>
            </a:r>
            <a:r>
              <a:rPr lang="en-US" sz="20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2000" b="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 </a:t>
            </a:r>
            <a:r>
              <a:rPr lang="en-US" sz="2000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</a:t>
            </a:r>
            <a:r>
              <a:rPr lang="en-US" sz="20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</a:t>
            </a:r>
            <a:r>
              <a:rPr lang="en-US" sz="2000" b="0" i="0" u="none" strike="noStrike" cap="none" dirty="0">
                <a:solidFill>
                  <a:srgbClr val="1750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r>
              <a:rPr lang="en-US" sz="20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;i&lt;</a:t>
            </a:r>
            <a:r>
              <a:rPr lang="en-US" sz="2000" b="0" i="0" u="none" strike="noStrike" cap="none" dirty="0">
                <a:solidFill>
                  <a:srgbClr val="1750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</a:t>
            </a:r>
            <a:r>
              <a:rPr lang="en-US" sz="20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;i++){</a:t>
            </a:r>
            <a:br>
              <a:rPr lang="en-US" sz="20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20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System</a:t>
            </a:r>
            <a:r>
              <a:rPr lang="en-US" sz="2000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2000" b="0" i="1" u="none" strike="noStrike" cap="none" dirty="0" err="1">
                <a:solidFill>
                  <a:srgbClr val="87109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r>
              <a:rPr lang="en-US" sz="2000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.println</a:t>
            </a:r>
            <a:r>
              <a:rPr lang="en-US" sz="20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num</a:t>
            </a:r>
            <a:r>
              <a:rPr lang="en-US" sz="20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</a:t>
            </a:r>
            <a:r>
              <a:rPr lang="en-US" sz="2000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</a:t>
            </a:r>
            <a:r>
              <a:rPr lang="en-US" sz="20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]);</a:t>
            </a:r>
            <a:br>
              <a:rPr lang="en-US" sz="20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20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1451574" y="5025709"/>
            <a:ext cx="5711226" cy="8309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B3"/>
              </a:buClr>
              <a:buSzPts val="1500"/>
              <a:buFont typeface="JetBrains Mono"/>
              <a:buNone/>
            </a:pPr>
            <a:r>
              <a:rPr lang="en-US" sz="2400" b="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</a:t>
            </a:r>
            <a:r>
              <a:rPr lang="en-US" sz="24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[] 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num</a:t>
            </a:r>
            <a:r>
              <a:rPr lang="en-US" sz="24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={</a:t>
            </a:r>
            <a:r>
              <a:rPr lang="en-US" sz="2400" b="0" i="0" u="none" strike="noStrike" cap="none" dirty="0">
                <a:solidFill>
                  <a:srgbClr val="1750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r>
              <a:rPr lang="en-US" sz="24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</a:t>
            </a:r>
            <a:r>
              <a:rPr lang="en-US" sz="2400" b="0" i="0" u="none" strike="noStrike" cap="none" dirty="0">
                <a:solidFill>
                  <a:srgbClr val="1750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</a:t>
            </a:r>
            <a:r>
              <a:rPr lang="en-US" sz="24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</a:t>
            </a:r>
            <a:r>
              <a:rPr lang="en-US" sz="2400" b="0" i="0" u="none" strike="noStrike" cap="none" dirty="0">
                <a:solidFill>
                  <a:srgbClr val="1750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</a:t>
            </a:r>
            <a:r>
              <a:rPr lang="en-US" sz="24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</a:t>
            </a:r>
            <a:r>
              <a:rPr lang="en-US" sz="2400" b="0" i="0" u="none" strike="noStrike" cap="none" dirty="0">
                <a:solidFill>
                  <a:srgbClr val="1750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</a:t>
            </a:r>
            <a:r>
              <a:rPr lang="en-US" sz="24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</a:t>
            </a:r>
            <a:r>
              <a:rPr lang="en-US" sz="2400" b="0" i="0" u="none" strike="noStrike" cap="none" dirty="0">
                <a:solidFill>
                  <a:srgbClr val="1750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</a:t>
            </a:r>
            <a:r>
              <a:rPr lang="en-US" sz="24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};</a:t>
            </a:r>
            <a:br>
              <a:rPr lang="en-US" sz="24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2400" b="0" i="0" u="none" strike="noStrike" cap="none" dirty="0" err="1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System</a:t>
            </a:r>
            <a:r>
              <a:rPr lang="en-US" sz="2400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2400" b="0" i="1" u="none" strike="noStrike" cap="none" dirty="0" err="1">
                <a:solidFill>
                  <a:srgbClr val="87109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r>
              <a:rPr lang="en-US" sz="2400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.println</a:t>
            </a:r>
            <a:r>
              <a:rPr lang="en-US" sz="24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num</a:t>
            </a:r>
            <a:r>
              <a:rPr lang="en-US" sz="24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</a:t>
            </a:r>
            <a:r>
              <a:rPr lang="en-US" sz="2400" b="0" i="0" u="none" strike="noStrike" cap="none" dirty="0">
                <a:solidFill>
                  <a:srgbClr val="1750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r>
              <a:rPr lang="en-US" sz="24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]);</a:t>
            </a:r>
            <a:endParaRPr sz="2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n-US"/>
              <a:t>FOREACH LOOP</a:t>
            </a:r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1F9B03-5461-C13F-143D-1D55C4D5D5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/>
              <a:t> 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        String[] fruits={"</a:t>
            </a:r>
            <a:r>
              <a:rPr lang="en-US" dirty="0" err="1"/>
              <a:t>Mango","Banana","Litchi</a:t>
            </a:r>
            <a:r>
              <a:rPr lang="en-US" dirty="0"/>
              <a:t>"};</a:t>
            </a:r>
          </a:p>
          <a:p>
            <a:pPr marL="114300" indent="0">
              <a:buNone/>
            </a:pPr>
            <a:r>
              <a:rPr lang="en-US" dirty="0"/>
              <a:t>        for (String fruit: fruits) {</a:t>
            </a:r>
          </a:p>
          <a:p>
            <a:pPr marL="114300" indent="0">
              <a:buNone/>
            </a:pPr>
            <a:r>
              <a:rPr lang="en-US" dirty="0"/>
              <a:t>            </a:t>
            </a:r>
            <a:r>
              <a:rPr lang="en-US" dirty="0" err="1"/>
              <a:t>System.out.println</a:t>
            </a:r>
            <a:r>
              <a:rPr lang="en-US" dirty="0"/>
              <a:t>("I love "+fruit);</a:t>
            </a:r>
          </a:p>
          <a:p>
            <a:pPr marL="114300" indent="0">
              <a:buNone/>
            </a:pPr>
            <a:r>
              <a:rPr lang="en-US" dirty="0"/>
              <a:t>        }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    }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1ed72ef041_1_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Calculate sum of values in an array</a:t>
            </a:r>
            <a:endParaRPr/>
          </a:p>
        </p:txBody>
      </p:sp>
      <p:sp>
        <p:nvSpPr>
          <p:cNvPr id="156" name="Google Shape;156;g31ed72ef041_1_2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ACE63F8-0AAD-6DC8-9B46-E29F90EF35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25625"/>
            <a:ext cx="10073640" cy="424503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005fa368f6_0_3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Find max and min from the array</a:t>
            </a:r>
            <a:endParaRPr/>
          </a:p>
        </p:txBody>
      </p:sp>
      <p:sp>
        <p:nvSpPr>
          <p:cNvPr id="163" name="Google Shape;163;g3005fa368f6_0_3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81481"/>
              <a:buFont typeface="Arial"/>
              <a:buNone/>
            </a:pPr>
            <a:r>
              <a:rPr lang="en-US" sz="1350" dirty="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public static void </a:t>
            </a:r>
            <a:r>
              <a:rPr lang="en-US" sz="1350" dirty="0">
                <a:solidFill>
                  <a:srgbClr val="00627A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main</a:t>
            </a: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1350" dirty="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String</a:t>
            </a: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[] </a:t>
            </a:r>
            <a:r>
              <a:rPr lang="en-US" sz="1350" dirty="0" err="1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args</a:t>
            </a: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 {</a:t>
            </a:r>
            <a:endParaRPr sz="1350" dirty="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81481"/>
              <a:buFont typeface="Arial"/>
              <a:buNone/>
            </a:pP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-US" sz="1350" dirty="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int</a:t>
            </a: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[] </a:t>
            </a:r>
            <a:r>
              <a:rPr lang="en-US" sz="1350" dirty="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numbers </a:t>
            </a: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= {</a:t>
            </a:r>
            <a:r>
              <a:rPr lang="en-US" sz="1350" dirty="0">
                <a:solidFill>
                  <a:srgbClr val="1750EB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5</a:t>
            </a: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-US" sz="1350" dirty="0">
                <a:solidFill>
                  <a:srgbClr val="1750EB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9</a:t>
            </a: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-US" sz="1350" dirty="0">
                <a:solidFill>
                  <a:srgbClr val="1750EB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10</a:t>
            </a: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-US" sz="1350" dirty="0">
                <a:solidFill>
                  <a:srgbClr val="1750EB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6</a:t>
            </a: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-US" sz="1350" dirty="0">
                <a:solidFill>
                  <a:srgbClr val="1750EB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7</a:t>
            </a: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};</a:t>
            </a:r>
            <a:endParaRPr sz="1350" dirty="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81481"/>
              <a:buFont typeface="Arial"/>
              <a:buNone/>
            </a:pP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-US" sz="1350" dirty="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int </a:t>
            </a:r>
            <a:r>
              <a:rPr lang="en-US" sz="1350" dirty="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max</a:t>
            </a: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= </a:t>
            </a:r>
            <a:r>
              <a:rPr lang="en-US" sz="1350" i="1" dirty="0" err="1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findMax</a:t>
            </a: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1350" dirty="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numbers</a:t>
            </a: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);</a:t>
            </a:r>
            <a:endParaRPr sz="1350" dirty="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81481"/>
              <a:buFont typeface="Arial"/>
              <a:buNone/>
            </a:pP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-US" sz="1350" dirty="0" err="1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System</a:t>
            </a:r>
            <a:r>
              <a:rPr lang="en-US" sz="1350" dirty="0" err="1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1350" i="1" dirty="0" err="1">
                <a:solidFill>
                  <a:srgbClr val="871094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r>
              <a:rPr lang="en-US" sz="1350" dirty="0" err="1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.println</a:t>
            </a: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1350" dirty="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max</a:t>
            </a: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);</a:t>
            </a:r>
            <a:endParaRPr sz="1350" dirty="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81481"/>
              <a:buFont typeface="Arial"/>
              <a:buNone/>
            </a:pPr>
            <a:endParaRPr sz="1350" dirty="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81481"/>
              <a:buFont typeface="Arial"/>
              <a:buNone/>
            </a:pP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sz="1350" dirty="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81481"/>
              <a:buFont typeface="Arial"/>
              <a:buNone/>
            </a:pPr>
            <a:r>
              <a:rPr lang="en-US" sz="1350" dirty="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public static int </a:t>
            </a:r>
            <a:r>
              <a:rPr lang="en-US" sz="1350" dirty="0" err="1">
                <a:solidFill>
                  <a:srgbClr val="00627A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findMax</a:t>
            </a: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1350" dirty="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int</a:t>
            </a: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[] numbers){</a:t>
            </a:r>
            <a:endParaRPr sz="1350" dirty="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81481"/>
              <a:buFont typeface="Arial"/>
              <a:buNone/>
            </a:pP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-US" sz="1350" dirty="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int </a:t>
            </a:r>
            <a:r>
              <a:rPr lang="en-US" sz="1350" dirty="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max</a:t>
            </a: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=numbers[</a:t>
            </a:r>
            <a:r>
              <a:rPr lang="en-US" sz="1350" dirty="0">
                <a:solidFill>
                  <a:srgbClr val="1750EB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];</a:t>
            </a:r>
            <a:endParaRPr sz="1350" dirty="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81481"/>
              <a:buFont typeface="Arial"/>
              <a:buNone/>
            </a:pP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-US" sz="1350" dirty="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for</a:t>
            </a: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1350" dirty="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int </a:t>
            </a:r>
            <a:r>
              <a:rPr lang="en-US" sz="1350" dirty="0" err="1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i</a:t>
            </a: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=</a:t>
            </a:r>
            <a:r>
              <a:rPr lang="en-US" sz="1350" dirty="0">
                <a:solidFill>
                  <a:srgbClr val="1750EB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r>
              <a:rPr lang="en-US" sz="1350" dirty="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i</a:t>
            </a: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&lt;</a:t>
            </a:r>
            <a:r>
              <a:rPr lang="en-US" sz="1350" dirty="0" err="1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numbers.</a:t>
            </a:r>
            <a:r>
              <a:rPr lang="en-US" sz="1350" dirty="0" err="1">
                <a:solidFill>
                  <a:srgbClr val="871094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length</a:t>
            </a:r>
            <a:r>
              <a:rPr lang="en-US" sz="1350" dirty="0" err="1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r>
              <a:rPr lang="en-US" sz="1350" dirty="0" err="1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i</a:t>
            </a: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++){</a:t>
            </a:r>
            <a:endParaRPr sz="1350" dirty="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81481"/>
              <a:buFont typeface="Arial"/>
              <a:buNone/>
            </a:pP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</a:t>
            </a:r>
            <a:r>
              <a:rPr lang="en-US" sz="1350" dirty="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if</a:t>
            </a: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(numbers[</a:t>
            </a:r>
            <a:r>
              <a:rPr lang="en-US" sz="1350" dirty="0" err="1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i</a:t>
            </a: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]&gt;</a:t>
            </a:r>
            <a:r>
              <a:rPr lang="en-US" sz="1350" dirty="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max</a:t>
            </a: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){</a:t>
            </a:r>
            <a:endParaRPr sz="1350" dirty="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81481"/>
              <a:buFont typeface="Arial"/>
              <a:buNone/>
            </a:pP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    </a:t>
            </a:r>
            <a:r>
              <a:rPr lang="en-US" sz="1350" dirty="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max</a:t>
            </a: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=numbers[</a:t>
            </a:r>
            <a:r>
              <a:rPr lang="en-US" sz="1350" dirty="0" err="1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i</a:t>
            </a: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];</a:t>
            </a:r>
            <a:endParaRPr sz="1350" dirty="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81481"/>
              <a:buFont typeface="Arial"/>
              <a:buNone/>
            </a:pP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}</a:t>
            </a:r>
            <a:endParaRPr sz="1350" dirty="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81481"/>
              <a:buFont typeface="Arial"/>
              <a:buNone/>
            </a:pP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}</a:t>
            </a:r>
            <a:endParaRPr sz="1350" dirty="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81481"/>
              <a:buFont typeface="Arial"/>
              <a:buNone/>
            </a:pP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-US" sz="1350" dirty="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return </a:t>
            </a:r>
            <a:r>
              <a:rPr lang="en-US" sz="1350" dirty="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max</a:t>
            </a: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endParaRPr sz="1350" dirty="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81481"/>
              <a:buFont typeface="Arial"/>
              <a:buNone/>
            </a:pP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sz="1350" dirty="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>
          <a:extLst>
            <a:ext uri="{FF2B5EF4-FFF2-40B4-BE49-F238E27FC236}">
              <a16:creationId xmlns:a16="http://schemas.microsoft.com/office/drawing/2014/main" id="{D5B400DA-7CDC-B40B-F413-B2231ED5D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005fa368f6_0_43">
            <a:extLst>
              <a:ext uri="{FF2B5EF4-FFF2-40B4-BE49-F238E27FC236}">
                <a16:creationId xmlns:a16="http://schemas.microsoft.com/office/drawing/2014/main" id="{99DDB65D-7F70-7527-8CD5-699A2C26B1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Find max and min in array</a:t>
            </a:r>
            <a:endParaRPr dirty="0"/>
          </a:p>
        </p:txBody>
      </p:sp>
      <p:sp>
        <p:nvSpPr>
          <p:cNvPr id="177" name="Google Shape;177;g3005fa368f6_0_43">
            <a:extLst>
              <a:ext uri="{FF2B5EF4-FFF2-40B4-BE49-F238E27FC236}">
                <a16:creationId xmlns:a16="http://schemas.microsoft.com/office/drawing/2014/main" id="{B847C9D8-F2A5-7AC5-8FA0-A86A37A8C6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A79911-C7E8-B99F-D5D6-8B998AE641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670871"/>
            <a:ext cx="6601746" cy="4505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3105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005fa368f6_0_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Find out second max number from array</a:t>
            </a:r>
            <a:endParaRPr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50CCF36-9A32-EF66-0584-793B321412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2498213"/>
            <a:ext cx="11252200" cy="3585597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public static void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56A8F5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main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(String[]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args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) {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int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[] numbers = {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5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,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3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,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7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,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1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,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6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,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2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};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int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max,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secondMax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    max = numbers[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0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];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secondMax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 = numbers[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0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];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for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(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int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i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=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0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;i&lt;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numbers.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length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;i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++){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   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if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(numbers[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i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]&gt;max){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       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secondMax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 = max;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           max = numbers[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i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];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       }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   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else if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(numbers[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i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] &gt;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secondMax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  &amp;&amp; numbers[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i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]&lt;max)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       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secondMax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 = numbers[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i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];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       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    }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System.</a:t>
            </a:r>
            <a:r>
              <a:rPr kumimoji="0" lang="en-US" altLang="en-US" sz="1100" b="0" i="1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out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.println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(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secondMax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);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}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n-US"/>
              <a:t>2D ARRAY</a:t>
            </a:r>
            <a:br>
              <a:rPr lang="en-US"/>
            </a:br>
            <a:endParaRPr/>
          </a:p>
        </p:txBody>
      </p:sp>
      <p:sp>
        <p:nvSpPr>
          <p:cNvPr id="231" name="Google Shape;231;p10"/>
          <p:cNvSpPr txBox="1">
            <a:spLocks noGrp="1"/>
          </p:cNvSpPr>
          <p:nvPr>
            <p:ph type="body" idx="1"/>
          </p:nvPr>
        </p:nvSpPr>
        <p:spPr>
          <a:xfrm>
            <a:off x="1376934" y="1853754"/>
            <a:ext cx="560288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DataType[][] arr={{n1,n2,n3},{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n4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,n5,n6},{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n7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,n8,n9}};   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n-US"/>
              <a:t>2D ARRAY EXAMPLE</a:t>
            </a:r>
            <a:br>
              <a:rPr lang="en-US"/>
            </a:br>
            <a:endParaRPr/>
          </a:p>
        </p:txBody>
      </p:sp>
      <p:sp>
        <p:nvSpPr>
          <p:cNvPr id="237" name="Google Shape;237;p11"/>
          <p:cNvSpPr txBox="1">
            <a:spLocks noGrp="1"/>
          </p:cNvSpPr>
          <p:nvPr>
            <p:ph type="body" idx="1"/>
          </p:nvPr>
        </p:nvSpPr>
        <p:spPr>
          <a:xfrm>
            <a:off x="1451573" y="2656125"/>
            <a:ext cx="7627200" cy="2401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B3"/>
              </a:buClr>
              <a:buSzPts val="1500"/>
              <a:buFont typeface="JetBrains Mono"/>
              <a:buNone/>
            </a:pPr>
            <a:r>
              <a:rPr lang="en-US" sz="1500" b="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public static void </a:t>
            </a:r>
            <a:r>
              <a:rPr lang="en-US" sz="1500" b="0" i="0" u="none" strike="noStrike" cap="none" dirty="0">
                <a:solidFill>
                  <a:srgbClr val="0062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main</a:t>
            </a: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15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String</a:t>
            </a: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[] </a:t>
            </a:r>
            <a:r>
              <a:rPr lang="en-US" sz="1500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args</a:t>
            </a: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 {</a:t>
            </a:r>
            <a:b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500" b="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</a:t>
            </a: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[][] </a:t>
            </a:r>
            <a:r>
              <a:rPr lang="en-US" sz="1500" b="0" i="0" u="none" strike="noStrike" cap="none" dirty="0" err="1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arr</a:t>
            </a:r>
            <a:r>
              <a:rPr lang="en-US" sz="15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 {{</a:t>
            </a:r>
            <a:r>
              <a:rPr lang="en-US" sz="1500" b="0" i="0" u="none" strike="noStrike" cap="none" dirty="0">
                <a:solidFill>
                  <a:srgbClr val="1750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-US" sz="1500" b="0" i="0" u="none" strike="noStrike" cap="none" dirty="0">
                <a:solidFill>
                  <a:srgbClr val="1750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</a:t>
            </a: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}, {</a:t>
            </a:r>
            <a:r>
              <a:rPr lang="en-US" sz="1500" b="0" i="0" u="none" strike="noStrike" cap="none" dirty="0">
                <a:solidFill>
                  <a:srgbClr val="1750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</a:t>
            </a: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-US" sz="1500" b="0" i="0" u="none" strike="noStrike" cap="none" dirty="0">
                <a:solidFill>
                  <a:srgbClr val="1750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</a:t>
            </a: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}};</a:t>
            </a:r>
            <a:b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b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500" b="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 </a:t>
            </a: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1500" b="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 </a:t>
            </a:r>
            <a:r>
              <a:rPr lang="en-US" sz="1500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</a:t>
            </a: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= </a:t>
            </a:r>
            <a:r>
              <a:rPr lang="en-US" sz="1500" b="0" i="0" u="none" strike="noStrike" cap="none" dirty="0">
                <a:solidFill>
                  <a:srgbClr val="1750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</a:t>
            </a:r>
            <a:r>
              <a:rPr lang="en-US" sz="1500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</a:t>
            </a: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&lt; </a:t>
            </a:r>
            <a:r>
              <a:rPr lang="en-US" sz="1500" b="0" i="0" u="none" strike="noStrike" cap="none" dirty="0">
                <a:solidFill>
                  <a:srgbClr val="1750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</a:t>
            </a: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</a:t>
            </a:r>
            <a:r>
              <a:rPr lang="en-US" sz="1500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</a:t>
            </a: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++)</a:t>
            </a:r>
            <a:b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lang="en-US" sz="1500" b="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 </a:t>
            </a: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1500" b="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 </a:t>
            </a: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j = </a:t>
            </a:r>
            <a:r>
              <a:rPr lang="en-US" sz="1500" b="0" i="0" u="none" strike="noStrike" cap="none" dirty="0">
                <a:solidFill>
                  <a:srgbClr val="1750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j &lt; </a:t>
            </a:r>
            <a:r>
              <a:rPr lang="en-US" sz="1500" b="0" i="0" u="none" strike="noStrike" cap="none" dirty="0">
                <a:solidFill>
                  <a:srgbClr val="1750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</a:t>
            </a: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</a:t>
            </a:r>
            <a:r>
              <a:rPr lang="en-US" sz="1500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j++</a:t>
            </a: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){</a:t>
            </a:r>
            <a:b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</a:t>
            </a:r>
            <a:r>
              <a:rPr lang="en-US" sz="1500" b="0" i="0" u="none" strike="noStrike" cap="none" dirty="0" err="1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System</a:t>
            </a:r>
            <a:r>
              <a:rPr lang="en-US" sz="1500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1500" b="0" i="1" u="none" strike="noStrike" cap="none" dirty="0" err="1">
                <a:solidFill>
                  <a:srgbClr val="87109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r>
              <a:rPr lang="en-US" sz="1500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.println</a:t>
            </a: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1500" b="0" i="0" u="none" strike="noStrike" cap="none" dirty="0">
                <a:solidFill>
                  <a:srgbClr val="067D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</a:t>
            </a:r>
            <a:r>
              <a:rPr lang="en-US" sz="1500" b="0" i="0" u="none" strike="noStrike" cap="none" dirty="0" err="1">
                <a:solidFill>
                  <a:srgbClr val="067D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arr</a:t>
            </a:r>
            <a:r>
              <a:rPr lang="en-US" sz="1500" b="0" i="0" u="none" strike="noStrike" cap="none" dirty="0">
                <a:solidFill>
                  <a:srgbClr val="067D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[" </a:t>
            </a: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+ </a:t>
            </a:r>
            <a:r>
              <a:rPr lang="en-US" sz="1500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</a:t>
            </a: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+ </a:t>
            </a:r>
            <a:r>
              <a:rPr lang="en-US" sz="1500" b="0" i="0" u="none" strike="noStrike" cap="none" dirty="0">
                <a:solidFill>
                  <a:srgbClr val="067D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"][" </a:t>
            </a: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+ j + </a:t>
            </a:r>
            <a:r>
              <a:rPr lang="en-US" sz="1500" b="0" i="0" u="none" strike="noStrike" cap="none" dirty="0">
                <a:solidFill>
                  <a:srgbClr val="067D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"] = " </a:t>
            </a: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+ </a:t>
            </a:r>
            <a:r>
              <a:rPr lang="en-US" sz="1500" b="0" i="0" u="none" strike="noStrike" cap="none" dirty="0" err="1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arr</a:t>
            </a: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</a:t>
            </a:r>
            <a:r>
              <a:rPr lang="en-US" sz="1500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</a:t>
            </a: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][j]);</a:t>
            </a:r>
            <a:b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}</a:t>
            </a:r>
            <a:b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b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sz="15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016befda7f_0_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Find a given element is exists in array (Linear Searching)</a:t>
            </a:r>
            <a:endParaRPr/>
          </a:p>
        </p:txBody>
      </p:sp>
      <p:sp>
        <p:nvSpPr>
          <p:cNvPr id="211" name="Google Shape;211;g2016befda7f_0_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8"/>
              <a:buFont typeface="Arial"/>
              <a:buNone/>
            </a:pPr>
            <a:r>
              <a:rPr lang="en-US" sz="1200" dirty="0">
                <a:latin typeface="Courier New"/>
                <a:ea typeface="Courier New"/>
                <a:cs typeface="Courier New"/>
                <a:sym typeface="Courier New"/>
              </a:rPr>
              <a:t>public class </a:t>
            </a:r>
            <a:r>
              <a:rPr lang="en-US" sz="1200" dirty="0" err="1">
                <a:latin typeface="Courier New"/>
                <a:ea typeface="Courier New"/>
                <a:cs typeface="Courier New"/>
                <a:sym typeface="Courier New"/>
              </a:rPr>
              <a:t>NumberExistsInArray</a:t>
            </a:r>
            <a:r>
              <a:rPr lang="en-US" sz="1200" dirty="0"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2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8"/>
              <a:buFont typeface="Arial"/>
              <a:buNone/>
            </a:pPr>
            <a:r>
              <a:rPr lang="en-US" sz="1200" dirty="0">
                <a:latin typeface="Courier New"/>
                <a:ea typeface="Courier New"/>
                <a:cs typeface="Courier New"/>
                <a:sym typeface="Courier New"/>
              </a:rPr>
              <a:t>    public static void main(String[] </a:t>
            </a:r>
            <a:r>
              <a:rPr lang="en-US" sz="1200" dirty="0" err="1">
                <a:latin typeface="Courier New"/>
                <a:ea typeface="Courier New"/>
                <a:cs typeface="Courier New"/>
                <a:sym typeface="Courier New"/>
              </a:rPr>
              <a:t>args</a:t>
            </a:r>
            <a:r>
              <a:rPr lang="en-US" sz="1200" dirty="0"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2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8"/>
              <a:buFont typeface="Arial"/>
              <a:buNone/>
            </a:pPr>
            <a:r>
              <a:rPr lang="en-US" sz="1200" dirty="0">
                <a:latin typeface="Courier New"/>
                <a:ea typeface="Courier New"/>
                <a:cs typeface="Courier New"/>
                <a:sym typeface="Courier New"/>
              </a:rPr>
              <a:t>        int[] numbers = { 1, 2, 3, 4, 5 };</a:t>
            </a:r>
            <a:endParaRPr sz="12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8"/>
              <a:buFont typeface="Arial"/>
              <a:buNone/>
            </a:pPr>
            <a:r>
              <a:rPr lang="en-US" sz="1200" dirty="0">
                <a:latin typeface="Courier New"/>
                <a:ea typeface="Courier New"/>
                <a:cs typeface="Courier New"/>
                <a:sym typeface="Courier New"/>
              </a:rPr>
              <a:t>        int number = 9;</a:t>
            </a:r>
            <a:endParaRPr sz="12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8"/>
              <a:buFont typeface="Arial"/>
              <a:buNone/>
            </a:pPr>
            <a:r>
              <a:rPr lang="en-US" sz="1200" dirty="0"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-US" sz="1200" dirty="0" err="1">
                <a:latin typeface="Courier New"/>
                <a:ea typeface="Courier New"/>
                <a:cs typeface="Courier New"/>
                <a:sym typeface="Courier New"/>
              </a:rPr>
              <a:t>boolean</a:t>
            </a:r>
            <a:r>
              <a:rPr lang="en-US" sz="1200" dirty="0">
                <a:latin typeface="Courier New"/>
                <a:ea typeface="Courier New"/>
                <a:cs typeface="Courier New"/>
                <a:sym typeface="Courier New"/>
              </a:rPr>
              <a:t> found = false;</a:t>
            </a:r>
            <a:endParaRPr sz="12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8"/>
              <a:buFont typeface="Arial"/>
              <a:buNone/>
            </a:pPr>
            <a:r>
              <a:rPr lang="en-US" sz="1200" dirty="0">
                <a:latin typeface="Courier New"/>
                <a:ea typeface="Courier New"/>
                <a:cs typeface="Courier New"/>
                <a:sym typeface="Courier New"/>
              </a:rPr>
              <a:t>        for (int </a:t>
            </a:r>
            <a:r>
              <a:rPr lang="en-US" sz="1200" dirty="0" err="1"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1200" dirty="0">
                <a:latin typeface="Courier New"/>
                <a:ea typeface="Courier New"/>
                <a:cs typeface="Courier New"/>
                <a:sym typeface="Courier New"/>
              </a:rPr>
              <a:t> = 0; </a:t>
            </a:r>
            <a:r>
              <a:rPr lang="en-US" sz="1200" dirty="0" err="1"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1200" dirty="0">
                <a:latin typeface="Courier New"/>
                <a:ea typeface="Courier New"/>
                <a:cs typeface="Courier New"/>
                <a:sym typeface="Courier New"/>
              </a:rPr>
              <a:t> &lt; </a:t>
            </a:r>
            <a:r>
              <a:rPr lang="en-US" sz="1200" dirty="0" err="1">
                <a:latin typeface="Courier New"/>
                <a:ea typeface="Courier New"/>
                <a:cs typeface="Courier New"/>
                <a:sym typeface="Courier New"/>
              </a:rPr>
              <a:t>numbers.length</a:t>
            </a:r>
            <a:r>
              <a:rPr lang="en-US" sz="1200" dirty="0"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lang="en-US" sz="1200" dirty="0" err="1"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1200" dirty="0">
                <a:latin typeface="Courier New"/>
                <a:ea typeface="Courier New"/>
                <a:cs typeface="Courier New"/>
                <a:sym typeface="Courier New"/>
              </a:rPr>
              <a:t>++) {</a:t>
            </a:r>
            <a:endParaRPr sz="12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8"/>
              <a:buFont typeface="Arial"/>
              <a:buNone/>
            </a:pPr>
            <a:r>
              <a:rPr lang="en-US" sz="1200" dirty="0">
                <a:latin typeface="Courier New"/>
                <a:ea typeface="Courier New"/>
                <a:cs typeface="Courier New"/>
                <a:sym typeface="Courier New"/>
              </a:rPr>
              <a:t>            if (numbers[</a:t>
            </a:r>
            <a:r>
              <a:rPr lang="en-US" sz="1200" dirty="0" err="1"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1200" dirty="0">
                <a:latin typeface="Courier New"/>
                <a:ea typeface="Courier New"/>
                <a:cs typeface="Courier New"/>
                <a:sym typeface="Courier New"/>
              </a:rPr>
              <a:t>] == number) {</a:t>
            </a:r>
            <a:endParaRPr sz="12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8"/>
              <a:buFont typeface="Arial"/>
              <a:buNone/>
            </a:pPr>
            <a:r>
              <a:rPr lang="en-US" sz="1200" dirty="0">
                <a:latin typeface="Courier New"/>
                <a:ea typeface="Courier New"/>
                <a:cs typeface="Courier New"/>
                <a:sym typeface="Courier New"/>
              </a:rPr>
              <a:t>                found = true;</a:t>
            </a:r>
            <a:endParaRPr sz="12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8"/>
              <a:buFont typeface="Arial"/>
              <a:buNone/>
            </a:pPr>
            <a:r>
              <a:rPr lang="en-US" sz="1200" dirty="0">
                <a:latin typeface="Courier New"/>
                <a:ea typeface="Courier New"/>
                <a:cs typeface="Courier New"/>
                <a:sym typeface="Courier New"/>
              </a:rPr>
              <a:t>                break;</a:t>
            </a:r>
            <a:endParaRPr sz="12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8"/>
              <a:buFont typeface="Arial"/>
              <a:buNone/>
            </a:pPr>
            <a:r>
              <a:rPr lang="en-US" sz="1200" dirty="0">
                <a:latin typeface="Courier New"/>
                <a:ea typeface="Courier New"/>
                <a:cs typeface="Courier New"/>
                <a:sym typeface="Courier New"/>
              </a:rPr>
              <a:t>            }</a:t>
            </a:r>
            <a:endParaRPr sz="12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8"/>
              <a:buFont typeface="Arial"/>
              <a:buNone/>
            </a:pPr>
            <a:r>
              <a:rPr lang="en-US" sz="1200" dirty="0">
                <a:latin typeface="Courier New"/>
                <a:ea typeface="Courier New"/>
                <a:cs typeface="Courier New"/>
                <a:sym typeface="Courier New"/>
              </a:rPr>
              <a:t>        }</a:t>
            </a:r>
            <a:endParaRPr sz="12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8"/>
              <a:buFont typeface="Arial"/>
              <a:buNone/>
            </a:pPr>
            <a:r>
              <a:rPr lang="en-US" sz="1200" dirty="0">
                <a:latin typeface="Courier New"/>
                <a:ea typeface="Courier New"/>
                <a:cs typeface="Courier New"/>
                <a:sym typeface="Courier New"/>
              </a:rPr>
              <a:t>        if (found) {</a:t>
            </a:r>
            <a:endParaRPr sz="12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8"/>
              <a:buFont typeface="Arial"/>
              <a:buNone/>
            </a:pPr>
            <a:r>
              <a:rPr lang="en-US" sz="1200" dirty="0"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lang="en-US" sz="1200" dirty="0" err="1">
                <a:latin typeface="Courier New"/>
                <a:ea typeface="Courier New"/>
                <a:cs typeface="Courier New"/>
                <a:sym typeface="Courier New"/>
              </a:rPr>
              <a:t>System.out.println</a:t>
            </a:r>
            <a:r>
              <a:rPr lang="en-US" sz="1200" dirty="0">
                <a:latin typeface="Courier New"/>
                <a:ea typeface="Courier New"/>
                <a:cs typeface="Courier New"/>
                <a:sym typeface="Courier New"/>
              </a:rPr>
              <a:t>(number + " is found.");</a:t>
            </a:r>
            <a:endParaRPr sz="12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8"/>
              <a:buFont typeface="Arial"/>
              <a:buNone/>
            </a:pPr>
            <a:r>
              <a:rPr lang="en-US" sz="1200" dirty="0">
                <a:latin typeface="Courier New"/>
                <a:ea typeface="Courier New"/>
                <a:cs typeface="Courier New"/>
                <a:sym typeface="Courier New"/>
              </a:rPr>
              <a:t>        } else {</a:t>
            </a:r>
            <a:endParaRPr sz="12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8"/>
              <a:buFont typeface="Arial"/>
              <a:buNone/>
            </a:pPr>
            <a:r>
              <a:rPr lang="en-US" sz="1200" dirty="0"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lang="en-US" sz="1200" dirty="0" err="1">
                <a:latin typeface="Courier New"/>
                <a:ea typeface="Courier New"/>
                <a:cs typeface="Courier New"/>
                <a:sym typeface="Courier New"/>
              </a:rPr>
              <a:t>System.out.println</a:t>
            </a:r>
            <a:r>
              <a:rPr lang="en-US" sz="1200" dirty="0">
                <a:latin typeface="Courier New"/>
                <a:ea typeface="Courier New"/>
                <a:cs typeface="Courier New"/>
                <a:sym typeface="Courier New"/>
              </a:rPr>
              <a:t>(number + " is not found.");</a:t>
            </a:r>
            <a:endParaRPr sz="12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8"/>
              <a:buFont typeface="Arial"/>
              <a:buNone/>
            </a:pPr>
            <a:r>
              <a:rPr lang="en-US" sz="1200" dirty="0">
                <a:latin typeface="Courier New"/>
                <a:ea typeface="Courier New"/>
                <a:cs typeface="Courier New"/>
                <a:sym typeface="Courier New"/>
              </a:rPr>
              <a:t>        }</a:t>
            </a:r>
            <a:endParaRPr sz="12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8"/>
              <a:buFont typeface="Arial"/>
              <a:buNone/>
            </a:pPr>
            <a:r>
              <a:rPr lang="en-US" sz="1200" dirty="0"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2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8"/>
              <a:buFont typeface="Arial"/>
              <a:buNone/>
            </a:pPr>
            <a:r>
              <a:rPr lang="en-US" sz="1200" dirty="0"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endParaRPr sz="12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8"/>
              <a:buFont typeface="Arial"/>
              <a:buNone/>
            </a:pPr>
            <a:r>
              <a:rPr lang="en-US" sz="1200" dirty="0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90452-CF0B-FCD2-E915-3204C0FD3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Binary Search Theory</a:t>
            </a:r>
            <a:br>
              <a:rPr lang="en-US" sz="3200" dirty="0"/>
            </a:br>
            <a:r>
              <a:rPr lang="en-US" sz="3200" b="1" dirty="0">
                <a:highlight>
                  <a:srgbClr val="00FF00"/>
                </a:highlight>
              </a:rPr>
              <a:t>For Binary Search , the given array must be sorted.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C784B5-4377-179E-5061-569E777989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3C9B765-9B04-349C-2B23-5BE425EA79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578" y="1704974"/>
            <a:ext cx="10607222" cy="5006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3223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2b76b56ea44_0_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Binary searching</a:t>
            </a:r>
            <a:endParaRPr/>
          </a:p>
        </p:txBody>
      </p:sp>
      <p:sp>
        <p:nvSpPr>
          <p:cNvPr id="218" name="Google Shape;218;g2b76b56ea44_0_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49368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250" dirty="0">
                <a:highlight>
                  <a:schemeClr val="lt1"/>
                </a:highlight>
                <a:latin typeface="Verdana"/>
                <a:ea typeface="Verdana"/>
                <a:cs typeface="Verdana"/>
                <a:sym typeface="Verdana"/>
              </a:rPr>
              <a:t>public class </a:t>
            </a:r>
            <a:r>
              <a:rPr lang="en-US" sz="1250" dirty="0" err="1">
                <a:highlight>
                  <a:schemeClr val="lt1"/>
                </a:highlight>
                <a:latin typeface="Verdana"/>
                <a:ea typeface="Verdana"/>
                <a:cs typeface="Verdana"/>
                <a:sym typeface="Verdana"/>
              </a:rPr>
              <a:t>BinarySearch</a:t>
            </a:r>
            <a:r>
              <a:rPr lang="en-US" sz="1250" dirty="0">
                <a:highlight>
                  <a:schemeClr val="lt1"/>
                </a:highlight>
                <a:latin typeface="Verdana"/>
                <a:ea typeface="Verdana"/>
                <a:cs typeface="Verdana"/>
                <a:sym typeface="Verdana"/>
              </a:rPr>
              <a:t> {</a:t>
            </a:r>
            <a:endParaRPr sz="1250" dirty="0">
              <a:highlight>
                <a:schemeClr val="lt1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250" dirty="0">
                <a:highlight>
                  <a:schemeClr val="lt1"/>
                </a:highlight>
                <a:latin typeface="Verdana"/>
                <a:ea typeface="Verdana"/>
                <a:cs typeface="Verdana"/>
                <a:sym typeface="Verdana"/>
              </a:rPr>
              <a:t>    </a:t>
            </a:r>
            <a:endParaRPr sz="1250" dirty="0">
              <a:highlight>
                <a:schemeClr val="lt1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250" dirty="0">
                <a:highlight>
                  <a:schemeClr val="lt1"/>
                </a:highlight>
                <a:latin typeface="Verdana"/>
                <a:ea typeface="Verdana"/>
                <a:cs typeface="Verdana"/>
                <a:sym typeface="Verdana"/>
              </a:rPr>
              <a:t>    public static int </a:t>
            </a:r>
            <a:r>
              <a:rPr lang="en-US" sz="1250" dirty="0" err="1">
                <a:highlight>
                  <a:schemeClr val="lt1"/>
                </a:highlight>
                <a:latin typeface="Verdana"/>
                <a:ea typeface="Verdana"/>
                <a:cs typeface="Verdana"/>
                <a:sym typeface="Verdana"/>
              </a:rPr>
              <a:t>binarySearch</a:t>
            </a:r>
            <a:r>
              <a:rPr lang="en-US" sz="1250" dirty="0">
                <a:highlight>
                  <a:schemeClr val="lt1"/>
                </a:highlight>
                <a:latin typeface="Verdana"/>
                <a:ea typeface="Verdana"/>
                <a:cs typeface="Verdana"/>
                <a:sym typeface="Verdana"/>
              </a:rPr>
              <a:t>(int[] </a:t>
            </a:r>
            <a:r>
              <a:rPr lang="en-US" sz="1250" dirty="0" err="1">
                <a:highlight>
                  <a:schemeClr val="lt1"/>
                </a:highlight>
                <a:latin typeface="Verdana"/>
                <a:ea typeface="Verdana"/>
                <a:cs typeface="Verdana"/>
                <a:sym typeface="Verdana"/>
              </a:rPr>
              <a:t>arr</a:t>
            </a:r>
            <a:r>
              <a:rPr lang="en-US" sz="1250" dirty="0">
                <a:highlight>
                  <a:schemeClr val="lt1"/>
                </a:highlight>
                <a:latin typeface="Verdana"/>
                <a:ea typeface="Verdana"/>
                <a:cs typeface="Verdana"/>
                <a:sym typeface="Verdana"/>
              </a:rPr>
              <a:t>, int target) {</a:t>
            </a:r>
            <a:endParaRPr sz="1250" dirty="0">
              <a:highlight>
                <a:schemeClr val="lt1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250" dirty="0">
                <a:highlight>
                  <a:schemeClr val="lt1"/>
                </a:highlight>
                <a:latin typeface="Verdana"/>
                <a:ea typeface="Verdana"/>
                <a:cs typeface="Verdana"/>
                <a:sym typeface="Verdana"/>
              </a:rPr>
              <a:t>        int left = 0;</a:t>
            </a:r>
            <a:endParaRPr sz="1250" dirty="0">
              <a:highlight>
                <a:schemeClr val="lt1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250" dirty="0">
                <a:highlight>
                  <a:schemeClr val="lt1"/>
                </a:highlight>
                <a:latin typeface="Verdana"/>
                <a:ea typeface="Verdana"/>
                <a:cs typeface="Verdana"/>
                <a:sym typeface="Verdana"/>
              </a:rPr>
              <a:t>        int right = </a:t>
            </a:r>
            <a:r>
              <a:rPr lang="en-US" sz="1250" dirty="0" err="1">
                <a:highlight>
                  <a:schemeClr val="lt1"/>
                </a:highlight>
                <a:latin typeface="Verdana"/>
                <a:ea typeface="Verdana"/>
                <a:cs typeface="Verdana"/>
                <a:sym typeface="Verdana"/>
              </a:rPr>
              <a:t>arr.length</a:t>
            </a:r>
            <a:r>
              <a:rPr lang="en-US" sz="1250" dirty="0">
                <a:highlight>
                  <a:schemeClr val="lt1"/>
                </a:highlight>
                <a:latin typeface="Verdana"/>
                <a:ea typeface="Verdana"/>
                <a:cs typeface="Verdana"/>
                <a:sym typeface="Verdana"/>
              </a:rPr>
              <a:t> - 1;</a:t>
            </a:r>
            <a:endParaRPr sz="1250" dirty="0">
              <a:highlight>
                <a:schemeClr val="lt1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250" dirty="0">
                <a:highlight>
                  <a:schemeClr val="lt1"/>
                </a:highlight>
                <a:latin typeface="Verdana"/>
                <a:ea typeface="Verdana"/>
                <a:cs typeface="Verdana"/>
                <a:sym typeface="Verdana"/>
              </a:rPr>
              <a:t>        </a:t>
            </a:r>
            <a:endParaRPr sz="1250" dirty="0">
              <a:highlight>
                <a:schemeClr val="lt1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250" dirty="0">
                <a:highlight>
                  <a:schemeClr val="lt1"/>
                </a:highlight>
                <a:latin typeface="Verdana"/>
                <a:ea typeface="Verdana"/>
                <a:cs typeface="Verdana"/>
                <a:sym typeface="Verdana"/>
              </a:rPr>
              <a:t>        while (left &lt;= right) {</a:t>
            </a:r>
            <a:endParaRPr sz="1250" dirty="0">
              <a:highlight>
                <a:schemeClr val="lt1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250" dirty="0">
                <a:highlight>
                  <a:schemeClr val="lt1"/>
                </a:highlight>
                <a:latin typeface="Verdana"/>
                <a:ea typeface="Verdana"/>
                <a:cs typeface="Verdana"/>
                <a:sym typeface="Verdana"/>
              </a:rPr>
              <a:t>            int mid = left + (right - left) / 2;</a:t>
            </a:r>
            <a:endParaRPr sz="1250" dirty="0">
              <a:highlight>
                <a:schemeClr val="lt1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250" dirty="0">
                <a:highlight>
                  <a:schemeClr val="lt1"/>
                </a:highlight>
                <a:latin typeface="Verdana"/>
                <a:ea typeface="Verdana"/>
                <a:cs typeface="Verdana"/>
                <a:sym typeface="Verdana"/>
              </a:rPr>
              <a:t>            </a:t>
            </a:r>
            <a:endParaRPr sz="1250" dirty="0">
              <a:highlight>
                <a:schemeClr val="lt1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250" dirty="0">
                <a:highlight>
                  <a:schemeClr val="lt1"/>
                </a:highlight>
                <a:latin typeface="Verdana"/>
                <a:ea typeface="Verdana"/>
                <a:cs typeface="Verdana"/>
                <a:sym typeface="Verdana"/>
              </a:rPr>
              <a:t>            if (</a:t>
            </a:r>
            <a:r>
              <a:rPr lang="en-US" sz="1250" dirty="0" err="1">
                <a:highlight>
                  <a:schemeClr val="lt1"/>
                </a:highlight>
                <a:latin typeface="Verdana"/>
                <a:ea typeface="Verdana"/>
                <a:cs typeface="Verdana"/>
                <a:sym typeface="Verdana"/>
              </a:rPr>
              <a:t>arr</a:t>
            </a:r>
            <a:r>
              <a:rPr lang="en-US" sz="1250" dirty="0">
                <a:highlight>
                  <a:schemeClr val="lt1"/>
                </a:highlight>
                <a:latin typeface="Verdana"/>
                <a:ea typeface="Verdana"/>
                <a:cs typeface="Verdana"/>
                <a:sym typeface="Verdana"/>
              </a:rPr>
              <a:t>[mid] == target)</a:t>
            </a:r>
            <a:endParaRPr sz="1250" dirty="0">
              <a:highlight>
                <a:schemeClr val="lt1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250" dirty="0">
                <a:highlight>
                  <a:schemeClr val="lt1"/>
                </a:highlight>
                <a:latin typeface="Verdana"/>
                <a:ea typeface="Verdana"/>
                <a:cs typeface="Verdana"/>
                <a:sym typeface="Verdana"/>
              </a:rPr>
              <a:t>                return mid;</a:t>
            </a:r>
            <a:endParaRPr sz="1250" dirty="0">
              <a:highlight>
                <a:schemeClr val="lt1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250" dirty="0">
                <a:highlight>
                  <a:schemeClr val="lt1"/>
                </a:highlight>
                <a:latin typeface="Verdana"/>
                <a:ea typeface="Verdana"/>
                <a:cs typeface="Verdana"/>
                <a:sym typeface="Verdana"/>
              </a:rPr>
              <a:t>            </a:t>
            </a:r>
            <a:endParaRPr sz="1250" dirty="0">
              <a:highlight>
                <a:schemeClr val="lt1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250" dirty="0">
                <a:highlight>
                  <a:schemeClr val="lt1"/>
                </a:highlight>
                <a:latin typeface="Verdana"/>
                <a:ea typeface="Verdana"/>
                <a:cs typeface="Verdana"/>
                <a:sym typeface="Verdana"/>
              </a:rPr>
              <a:t>           else if (</a:t>
            </a:r>
            <a:r>
              <a:rPr lang="en-US" sz="1250" dirty="0" err="1">
                <a:highlight>
                  <a:schemeClr val="lt1"/>
                </a:highlight>
                <a:latin typeface="Verdana"/>
                <a:ea typeface="Verdana"/>
                <a:cs typeface="Verdana"/>
                <a:sym typeface="Verdana"/>
              </a:rPr>
              <a:t>arr</a:t>
            </a:r>
            <a:r>
              <a:rPr lang="en-US" sz="1250" dirty="0">
                <a:highlight>
                  <a:schemeClr val="lt1"/>
                </a:highlight>
                <a:latin typeface="Verdana"/>
                <a:ea typeface="Verdana"/>
                <a:cs typeface="Verdana"/>
                <a:sym typeface="Verdana"/>
              </a:rPr>
              <a:t>[mid] &lt; target)</a:t>
            </a:r>
            <a:endParaRPr sz="1250" dirty="0">
              <a:highlight>
                <a:schemeClr val="lt1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250" dirty="0">
                <a:highlight>
                  <a:schemeClr val="lt1"/>
                </a:highlight>
                <a:latin typeface="Verdana"/>
                <a:ea typeface="Verdana"/>
                <a:cs typeface="Verdana"/>
                <a:sym typeface="Verdana"/>
              </a:rPr>
              <a:t>                left = mid + 1;</a:t>
            </a:r>
            <a:endParaRPr sz="1250" dirty="0">
              <a:highlight>
                <a:schemeClr val="lt1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250" dirty="0">
                <a:highlight>
                  <a:schemeClr val="lt1"/>
                </a:highlight>
                <a:latin typeface="Verdana"/>
                <a:ea typeface="Verdana"/>
                <a:cs typeface="Verdana"/>
                <a:sym typeface="Verdana"/>
              </a:rPr>
              <a:t>            else</a:t>
            </a:r>
            <a:endParaRPr sz="1250" dirty="0">
              <a:highlight>
                <a:schemeClr val="lt1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250" dirty="0">
                <a:highlight>
                  <a:schemeClr val="lt1"/>
                </a:highlight>
                <a:latin typeface="Verdana"/>
                <a:ea typeface="Verdana"/>
                <a:cs typeface="Verdana"/>
                <a:sym typeface="Verdana"/>
              </a:rPr>
              <a:t>                right = mid - 1;</a:t>
            </a:r>
            <a:endParaRPr sz="1250" dirty="0">
              <a:highlight>
                <a:schemeClr val="lt1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250" dirty="0">
                <a:highlight>
                  <a:schemeClr val="lt1"/>
                </a:highlight>
                <a:latin typeface="Verdana"/>
                <a:ea typeface="Verdana"/>
                <a:cs typeface="Verdana"/>
                <a:sym typeface="Verdana"/>
              </a:rPr>
              <a:t>        }</a:t>
            </a:r>
            <a:endParaRPr sz="1250" dirty="0">
              <a:highlight>
                <a:schemeClr val="lt1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250" dirty="0">
                <a:highlight>
                  <a:schemeClr val="lt1"/>
                </a:highlight>
                <a:latin typeface="Verdana"/>
                <a:ea typeface="Verdana"/>
                <a:cs typeface="Verdana"/>
                <a:sym typeface="Verdana"/>
              </a:rPr>
              <a:t>        </a:t>
            </a:r>
            <a:endParaRPr sz="1250" dirty="0">
              <a:highlight>
                <a:schemeClr val="lt1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250" dirty="0">
                <a:highlight>
                  <a:schemeClr val="lt1"/>
                </a:highlight>
                <a:latin typeface="Verdana"/>
                <a:ea typeface="Verdana"/>
                <a:cs typeface="Verdana"/>
                <a:sym typeface="Verdana"/>
              </a:rPr>
              <a:t>        return -1;</a:t>
            </a:r>
            <a:endParaRPr sz="1250" dirty="0">
              <a:highlight>
                <a:schemeClr val="lt1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250" dirty="0">
                <a:highlight>
                  <a:schemeClr val="lt1"/>
                </a:highlight>
                <a:latin typeface="Verdana"/>
                <a:ea typeface="Verdana"/>
                <a:cs typeface="Verdana"/>
                <a:sym typeface="Verdana"/>
              </a:rPr>
              <a:t>    }</a:t>
            </a:r>
            <a:endParaRPr sz="1250" dirty="0">
              <a:highlight>
                <a:schemeClr val="lt1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250" dirty="0">
                <a:highlight>
                  <a:schemeClr val="lt1"/>
                </a:highlight>
                <a:latin typeface="Verdana"/>
                <a:ea typeface="Verdana"/>
                <a:cs typeface="Verdana"/>
                <a:sym typeface="Verdana"/>
              </a:rPr>
              <a:t>}</a:t>
            </a:r>
            <a:endParaRPr sz="1250" dirty="0">
              <a:highlight>
                <a:schemeClr val="lt1"/>
              </a:highlight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n-US"/>
              <a:t>ARRAY PROGRAMS</a:t>
            </a:r>
            <a:endParaRPr/>
          </a:p>
        </p:txBody>
      </p:sp>
      <p:sp>
        <p:nvSpPr>
          <p:cNvPr id="225" name="Google Shape;225;p8"/>
          <p:cNvSpPr txBox="1">
            <a:spLocks noGrp="1"/>
          </p:cNvSpPr>
          <p:nvPr>
            <p:ph type="body" idx="1"/>
          </p:nvPr>
        </p:nvSpPr>
        <p:spPr>
          <a:xfrm>
            <a:off x="673750" y="1825625"/>
            <a:ext cx="106800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55000" lnSpcReduction="20000"/>
          </a:bodyPr>
          <a:lstStyle/>
          <a:p>
            <a:pPr marL="457200" lvl="0" indent="-417194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Print all elements from an array</a:t>
            </a:r>
            <a:endParaRPr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417194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Find the only even numbers in array</a:t>
            </a:r>
            <a:endParaRPr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417194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Find the sum of all elements from a given array</a:t>
            </a:r>
            <a:endParaRPr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417194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Find the max and min number from a given array</a:t>
            </a:r>
            <a:endParaRPr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77507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64285"/>
              <a:buAutoNum type="arabicPeriod"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Find the second largest number</a:t>
            </a:r>
            <a:endParaRPr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417194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Sort numbers in ascending and descending from an array</a:t>
            </a:r>
            <a:endParaRPr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77507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64285"/>
              <a:buAutoNum type="arabicPeriod"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Shuffle Array numbers</a:t>
            </a:r>
            <a:endParaRPr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417194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Find the duplicate element in array</a:t>
            </a:r>
            <a:endParaRPr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417194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Find if a given element is exist in the array</a:t>
            </a:r>
            <a:endParaRPr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417194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Find the number of notes from input amount in given array </a:t>
            </a:r>
            <a:endParaRPr dirty="0">
              <a:latin typeface="Arial"/>
              <a:ea typeface="Arial"/>
              <a:cs typeface="Arial"/>
              <a:sym typeface="Arial"/>
            </a:endParaRPr>
          </a:p>
          <a:p>
            <a:pPr marL="22860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82949"/>
              <a:buNone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[1000,500,200, 100,50,20,10,5,2, 1]</a:t>
            </a:r>
            <a:endParaRPr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005fa368f6_0_4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Find duplicate numbers in array</a:t>
            </a:r>
            <a:endParaRPr dirty="0"/>
          </a:p>
        </p:txBody>
      </p:sp>
      <p:sp>
        <p:nvSpPr>
          <p:cNvPr id="177" name="Google Shape;177;g3005fa368f6_0_4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 dirty="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public static void </a:t>
            </a:r>
            <a:r>
              <a:rPr lang="en-US" sz="1350" dirty="0">
                <a:solidFill>
                  <a:srgbClr val="00627A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main</a:t>
            </a: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1350" dirty="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String</a:t>
            </a: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[] </a:t>
            </a:r>
            <a:r>
              <a:rPr lang="en-US" sz="1350" dirty="0" err="1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args</a:t>
            </a: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 {</a:t>
            </a:r>
            <a:endParaRPr sz="1350" dirty="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-US" sz="1350" dirty="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int</a:t>
            </a: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[] </a:t>
            </a:r>
            <a:r>
              <a:rPr lang="en-US" sz="1350" dirty="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numbers </a:t>
            </a: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= { </a:t>
            </a:r>
            <a:r>
              <a:rPr lang="en-US" sz="1350" dirty="0">
                <a:solidFill>
                  <a:srgbClr val="1750EB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-US" sz="1350" dirty="0">
                <a:solidFill>
                  <a:srgbClr val="1750EB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2</a:t>
            </a: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-US" sz="1350" dirty="0">
                <a:solidFill>
                  <a:srgbClr val="1750EB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3</a:t>
            </a: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, 5 , </a:t>
            </a:r>
            <a:r>
              <a:rPr lang="en-US" sz="1350" dirty="0">
                <a:solidFill>
                  <a:srgbClr val="1750EB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4</a:t>
            </a: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, 2 , </a:t>
            </a:r>
            <a:r>
              <a:rPr lang="en-US" sz="1350" dirty="0">
                <a:solidFill>
                  <a:srgbClr val="1750EB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4</a:t>
            </a: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, </a:t>
            </a:r>
            <a:r>
              <a:rPr lang="en-US" sz="1350" dirty="0">
                <a:solidFill>
                  <a:srgbClr val="1750EB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-US" sz="1350" dirty="0">
                <a:solidFill>
                  <a:srgbClr val="1750EB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2 </a:t>
            </a: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};</a:t>
            </a:r>
            <a:endParaRPr sz="1350" dirty="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50" dirty="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-US" sz="1350" dirty="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for</a:t>
            </a: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1350" dirty="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int </a:t>
            </a:r>
            <a:r>
              <a:rPr lang="en-US" sz="1350" dirty="0" err="1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i</a:t>
            </a: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=</a:t>
            </a:r>
            <a:r>
              <a:rPr lang="en-US" sz="1350" dirty="0">
                <a:solidFill>
                  <a:srgbClr val="1750EB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r>
              <a:rPr lang="en-US" sz="1350" dirty="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i</a:t>
            </a: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&lt; </a:t>
            </a:r>
            <a:r>
              <a:rPr lang="en-US" sz="1350" dirty="0" err="1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numbers</a:t>
            </a:r>
            <a:r>
              <a:rPr lang="en-US" sz="1350" dirty="0" err="1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1350" dirty="0" err="1">
                <a:solidFill>
                  <a:srgbClr val="871094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length</a:t>
            </a:r>
            <a:r>
              <a:rPr lang="en-US" sz="1350" dirty="0" err="1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r>
              <a:rPr lang="en-US" sz="1350" dirty="0" err="1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i</a:t>
            </a: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++){</a:t>
            </a:r>
            <a:endParaRPr sz="1350" dirty="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</a:t>
            </a:r>
            <a:r>
              <a:rPr lang="en-US" sz="1350" dirty="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for</a:t>
            </a: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1350" dirty="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int </a:t>
            </a:r>
            <a:r>
              <a:rPr lang="en-US" sz="1350" dirty="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j</a:t>
            </a: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=</a:t>
            </a:r>
            <a:r>
              <a:rPr lang="en-US" sz="1350" dirty="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i</a:t>
            </a: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+</a:t>
            </a:r>
            <a:r>
              <a:rPr lang="en-US" sz="1350" dirty="0">
                <a:solidFill>
                  <a:srgbClr val="1750EB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r>
              <a:rPr lang="en-US" sz="1350" dirty="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j</a:t>
            </a: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&lt; </a:t>
            </a:r>
            <a:r>
              <a:rPr lang="en-US" sz="1350" dirty="0" err="1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numbers</a:t>
            </a:r>
            <a:r>
              <a:rPr lang="en-US" sz="1350" dirty="0" err="1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1350" dirty="0" err="1">
                <a:solidFill>
                  <a:srgbClr val="871094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length</a:t>
            </a:r>
            <a:r>
              <a:rPr lang="en-US" sz="1350" dirty="0" err="1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r>
              <a:rPr lang="en-US" sz="1350" dirty="0" err="1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j</a:t>
            </a: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++){</a:t>
            </a:r>
            <a:endParaRPr sz="1350" dirty="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    </a:t>
            </a:r>
            <a:r>
              <a:rPr lang="en-US" sz="1350" dirty="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if</a:t>
            </a: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1350" dirty="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numbers</a:t>
            </a: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[</a:t>
            </a:r>
            <a:r>
              <a:rPr lang="en-US" sz="1350" dirty="0" err="1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i</a:t>
            </a: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]==</a:t>
            </a:r>
            <a:r>
              <a:rPr lang="en-US" sz="1350" dirty="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numbers</a:t>
            </a: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[</a:t>
            </a:r>
            <a:r>
              <a:rPr lang="en-US" sz="1350" dirty="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j</a:t>
            </a: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]){</a:t>
            </a:r>
            <a:endParaRPr sz="1350" dirty="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        </a:t>
            </a:r>
            <a:r>
              <a:rPr lang="en-US" sz="1350" dirty="0" err="1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System</a:t>
            </a:r>
            <a:r>
              <a:rPr lang="en-US" sz="1350" dirty="0" err="1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1350" i="1" dirty="0" err="1">
                <a:solidFill>
                  <a:srgbClr val="871094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r>
              <a:rPr lang="en-US" sz="1350" dirty="0" err="1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.println</a:t>
            </a: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1350" dirty="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numbers</a:t>
            </a: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[</a:t>
            </a:r>
            <a:r>
              <a:rPr lang="en-US" sz="1350" dirty="0" err="1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i</a:t>
            </a: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]);</a:t>
            </a:r>
            <a:endParaRPr sz="1350" dirty="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    }</a:t>
            </a:r>
            <a:endParaRPr sz="1350" dirty="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}</a:t>
            </a:r>
            <a:endParaRPr sz="1350" dirty="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}</a:t>
            </a:r>
            <a:endParaRPr sz="1350" dirty="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sz="1350" dirty="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005fa368f6_0_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Sort Array in ascending order</a:t>
            </a:r>
            <a:endParaRPr/>
          </a:p>
        </p:txBody>
      </p:sp>
      <p:sp>
        <p:nvSpPr>
          <p:cNvPr id="184" name="Google Shape;184;g3005fa368f6_0_3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8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public static void </a:t>
            </a:r>
            <a:r>
              <a:rPr lang="en-US" sz="1350">
                <a:solidFill>
                  <a:srgbClr val="00627A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main</a:t>
            </a: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13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String</a:t>
            </a: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[] args) {</a:t>
            </a:r>
            <a:endParaRPr sz="135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-US" sz="135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int</a:t>
            </a: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[] </a:t>
            </a:r>
            <a:r>
              <a:rPr lang="en-US" sz="13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arr </a:t>
            </a: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= </a:t>
            </a:r>
            <a:r>
              <a:rPr lang="en-US" sz="135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new int</a:t>
            </a: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[]{</a:t>
            </a:r>
            <a:r>
              <a:rPr lang="en-US" sz="1350">
                <a:solidFill>
                  <a:srgbClr val="1750EB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78</a:t>
            </a: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-US" sz="1350">
                <a:solidFill>
                  <a:srgbClr val="1750EB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35</a:t>
            </a: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-US" sz="1350">
                <a:solidFill>
                  <a:srgbClr val="1750EB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-US" sz="1350">
                <a:solidFill>
                  <a:srgbClr val="1750EB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3</a:t>
            </a: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-US" sz="1350">
                <a:solidFill>
                  <a:srgbClr val="1750EB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90</a:t>
            </a: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-US" sz="1350">
                <a:solidFill>
                  <a:srgbClr val="1750EB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34</a:t>
            </a: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-US" sz="1350">
                <a:solidFill>
                  <a:srgbClr val="1750EB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6</a:t>
            </a: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-US" sz="1350">
                <a:solidFill>
                  <a:srgbClr val="1750EB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55</a:t>
            </a: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-US" sz="1350">
                <a:solidFill>
                  <a:srgbClr val="1750EB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20</a:t>
            </a: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};</a:t>
            </a:r>
            <a:endParaRPr sz="135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-US" sz="135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for </a:t>
            </a: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135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int </a:t>
            </a:r>
            <a:r>
              <a:rPr lang="en-US" sz="13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i </a:t>
            </a: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= </a:t>
            </a:r>
            <a:r>
              <a:rPr lang="en-US" sz="1350">
                <a:solidFill>
                  <a:srgbClr val="1750EB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; </a:t>
            </a:r>
            <a:r>
              <a:rPr lang="en-US" sz="13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i </a:t>
            </a: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&lt;= </a:t>
            </a:r>
            <a:r>
              <a:rPr lang="en-US" sz="13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arr</a:t>
            </a: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1350">
                <a:solidFill>
                  <a:srgbClr val="871094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length</a:t>
            </a: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-</a:t>
            </a:r>
            <a:r>
              <a:rPr lang="en-US" sz="1350">
                <a:solidFill>
                  <a:srgbClr val="1750EB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; </a:t>
            </a:r>
            <a:r>
              <a:rPr lang="en-US" sz="13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i</a:t>
            </a: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++) {</a:t>
            </a:r>
            <a:endParaRPr sz="135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</a:t>
            </a:r>
            <a:r>
              <a:rPr lang="en-US" sz="135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for </a:t>
            </a: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135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int </a:t>
            </a:r>
            <a:r>
              <a:rPr lang="en-US" sz="13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j </a:t>
            </a: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= </a:t>
            </a:r>
            <a:r>
              <a:rPr lang="en-US" sz="13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i </a:t>
            </a: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+ </a:t>
            </a:r>
            <a:r>
              <a:rPr lang="en-US" sz="1350">
                <a:solidFill>
                  <a:srgbClr val="1750EB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; </a:t>
            </a:r>
            <a:r>
              <a:rPr lang="en-US" sz="13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j </a:t>
            </a: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&lt;= </a:t>
            </a:r>
            <a:r>
              <a:rPr lang="en-US" sz="13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arr</a:t>
            </a: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1350">
                <a:solidFill>
                  <a:srgbClr val="871094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length</a:t>
            </a: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-</a:t>
            </a:r>
            <a:r>
              <a:rPr lang="en-US" sz="1350">
                <a:solidFill>
                  <a:srgbClr val="1750EB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; </a:t>
            </a:r>
            <a:r>
              <a:rPr lang="en-US" sz="13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j</a:t>
            </a: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++) {</a:t>
            </a:r>
            <a:endParaRPr sz="135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    </a:t>
            </a:r>
            <a:r>
              <a:rPr lang="en-US" sz="135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if </a:t>
            </a: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13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arr</a:t>
            </a: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[</a:t>
            </a:r>
            <a:r>
              <a:rPr lang="en-US" sz="13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i</a:t>
            </a: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] &gt; </a:t>
            </a:r>
            <a:r>
              <a:rPr lang="en-US" sz="13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arr</a:t>
            </a: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[</a:t>
            </a:r>
            <a:r>
              <a:rPr lang="en-US" sz="13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j</a:t>
            </a: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]) {</a:t>
            </a:r>
            <a:endParaRPr sz="135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        </a:t>
            </a:r>
            <a:r>
              <a:rPr lang="en-US" sz="135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int </a:t>
            </a:r>
            <a:r>
              <a:rPr lang="en-US" sz="13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tmp </a:t>
            </a: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= </a:t>
            </a:r>
            <a:r>
              <a:rPr lang="en-US" sz="13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arr</a:t>
            </a: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[</a:t>
            </a:r>
            <a:r>
              <a:rPr lang="en-US" sz="13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i</a:t>
            </a: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];</a:t>
            </a:r>
            <a:endParaRPr sz="135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        </a:t>
            </a:r>
            <a:r>
              <a:rPr lang="en-US" sz="13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arr</a:t>
            </a: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[</a:t>
            </a:r>
            <a:r>
              <a:rPr lang="en-US" sz="13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i</a:t>
            </a: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] = </a:t>
            </a:r>
            <a:r>
              <a:rPr lang="en-US" sz="13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arr</a:t>
            </a: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[</a:t>
            </a:r>
            <a:r>
              <a:rPr lang="en-US" sz="13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j</a:t>
            </a: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];</a:t>
            </a:r>
            <a:endParaRPr sz="135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        </a:t>
            </a:r>
            <a:r>
              <a:rPr lang="en-US" sz="13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arr</a:t>
            </a: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[</a:t>
            </a:r>
            <a:r>
              <a:rPr lang="en-US" sz="13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j</a:t>
            </a: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] = </a:t>
            </a:r>
            <a:r>
              <a:rPr lang="en-US" sz="13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tmp</a:t>
            </a: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endParaRPr sz="135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    }</a:t>
            </a:r>
            <a:endParaRPr sz="135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}</a:t>
            </a:r>
            <a:endParaRPr sz="135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5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}</a:t>
            </a:r>
            <a:endParaRPr sz="135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-US" sz="13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System</a:t>
            </a: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1350" i="1">
                <a:solidFill>
                  <a:srgbClr val="871094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.println(</a:t>
            </a:r>
            <a:r>
              <a:rPr lang="en-US" sz="13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Arrays</a:t>
            </a: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1350" i="1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toString</a:t>
            </a: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13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arr</a:t>
            </a: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));</a:t>
            </a:r>
            <a:endParaRPr sz="135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sz="135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523"/>
              <a:buNone/>
            </a:pPr>
            <a:endParaRPr sz="1141">
              <a:solidFill>
                <a:srgbClr val="0033B3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n-US"/>
              <a:t>ARRAY SORT [Method-2]</a:t>
            </a:r>
            <a:endParaRPr/>
          </a:p>
        </p:txBody>
      </p:sp>
      <p:sp>
        <p:nvSpPr>
          <p:cNvPr id="190" name="Google Shape;190;p9"/>
          <p:cNvSpPr txBox="1">
            <a:spLocks noGrp="1"/>
          </p:cNvSpPr>
          <p:nvPr>
            <p:ph type="body" idx="1"/>
          </p:nvPr>
        </p:nvSpPr>
        <p:spPr>
          <a:xfrm>
            <a:off x="1451574" y="2120351"/>
            <a:ext cx="5504400" cy="2862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B3"/>
              </a:buClr>
              <a:buSzPts val="1800"/>
              <a:buNone/>
            </a:pPr>
            <a:r>
              <a:rPr lang="en-US" sz="1800" b="0" i="0" u="none" strike="noStrike" cap="none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public void </a:t>
            </a:r>
            <a:r>
              <a:rPr lang="en-US" sz="1800" b="0" i="0" u="none" strike="noStrike" cap="none">
                <a:solidFill>
                  <a:srgbClr val="0062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arraySort</a:t>
            </a:r>
            <a:r>
              <a:rPr lang="en-US" sz="18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(){</a:t>
            </a:r>
            <a:br>
              <a:rPr lang="en-US" sz="18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8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800" b="0" i="0" u="none" strike="noStrike" cap="none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</a:t>
            </a:r>
            <a:r>
              <a:rPr lang="en-US" sz="18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[] </a:t>
            </a:r>
            <a:r>
              <a:rPr lang="en-US" sz="18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numbers</a:t>
            </a:r>
            <a:r>
              <a:rPr lang="en-US" sz="18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={</a:t>
            </a:r>
            <a:r>
              <a:rPr lang="en-US" sz="1800" b="0" i="0" u="none" strike="noStrike" cap="none">
                <a:solidFill>
                  <a:srgbClr val="1750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100</a:t>
            </a:r>
            <a:r>
              <a:rPr lang="en-US" sz="18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</a:t>
            </a:r>
            <a:r>
              <a:rPr lang="en-US" sz="1800" b="0" i="0" u="none" strike="noStrike" cap="none">
                <a:solidFill>
                  <a:srgbClr val="1750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80</a:t>
            </a:r>
            <a:r>
              <a:rPr lang="en-US" sz="18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</a:t>
            </a:r>
            <a:r>
              <a:rPr lang="en-US" sz="1800" b="0" i="0" u="none" strike="noStrike" cap="none">
                <a:solidFill>
                  <a:srgbClr val="1750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99</a:t>
            </a:r>
            <a:r>
              <a:rPr lang="en-US" sz="18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</a:t>
            </a:r>
            <a:r>
              <a:rPr lang="en-US" sz="1800" b="0" i="0" u="none" strike="noStrike" cap="none">
                <a:solidFill>
                  <a:srgbClr val="1750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56</a:t>
            </a:r>
            <a:r>
              <a:rPr lang="en-US" sz="18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</a:t>
            </a:r>
            <a:r>
              <a:rPr lang="en-US" sz="1800" b="0" i="0" u="none" strike="noStrike" cap="none">
                <a:solidFill>
                  <a:srgbClr val="1750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62</a:t>
            </a:r>
            <a:r>
              <a:rPr lang="en-US" sz="18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</a:t>
            </a:r>
            <a:r>
              <a:rPr lang="en-US" sz="1800" b="0" i="0" u="none" strike="noStrike" cap="none">
                <a:solidFill>
                  <a:srgbClr val="1750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24</a:t>
            </a:r>
            <a:r>
              <a:rPr lang="en-US" sz="18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</a:t>
            </a:r>
            <a:r>
              <a:rPr lang="en-US" sz="1800" b="0" i="0" u="none" strike="noStrike" cap="none">
                <a:solidFill>
                  <a:srgbClr val="1750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39</a:t>
            </a:r>
            <a:r>
              <a:rPr lang="en-US" sz="18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</a:t>
            </a:r>
            <a:r>
              <a:rPr lang="en-US" sz="1800" b="0" i="0" u="none" strike="noStrike" cap="none">
                <a:solidFill>
                  <a:srgbClr val="1750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40</a:t>
            </a:r>
            <a:r>
              <a:rPr lang="en-US" sz="18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</a:t>
            </a:r>
            <a:r>
              <a:rPr lang="en-US" sz="1800" b="0" i="0" u="none" strike="noStrike" cap="none">
                <a:solidFill>
                  <a:srgbClr val="1750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17</a:t>
            </a:r>
            <a:r>
              <a:rPr lang="en-US" sz="18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};</a:t>
            </a:r>
            <a:br>
              <a:rPr lang="en-US" sz="18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8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8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Arrays</a:t>
            </a:r>
            <a:r>
              <a:rPr lang="en-US" sz="18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1800" b="0" i="1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sort</a:t>
            </a:r>
            <a:r>
              <a:rPr lang="en-US" sz="18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18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numbers</a:t>
            </a:r>
            <a:r>
              <a:rPr lang="en-US" sz="18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);</a:t>
            </a:r>
            <a:br>
              <a:rPr lang="en-US" sz="18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8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800" b="0" i="0" u="none" strike="noStrike" cap="none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</a:t>
            </a:r>
            <a:r>
              <a:rPr lang="en-US" sz="18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1800" b="0" i="0" u="none" strike="noStrike" cap="none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 </a:t>
            </a:r>
            <a:r>
              <a:rPr lang="en-US" sz="18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i=</a:t>
            </a:r>
            <a:r>
              <a:rPr lang="en-US" sz="1800" b="0" i="0" u="none" strike="noStrike" cap="none">
                <a:solidFill>
                  <a:srgbClr val="1750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r>
              <a:rPr lang="en-US" sz="18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;i&lt;</a:t>
            </a:r>
            <a:r>
              <a:rPr lang="en-US" sz="18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numbers</a:t>
            </a:r>
            <a:r>
              <a:rPr lang="en-US" sz="18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1800" b="0" i="0" u="none" strike="noStrike" cap="none">
                <a:solidFill>
                  <a:srgbClr val="87109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length</a:t>
            </a:r>
            <a:r>
              <a:rPr lang="en-US" sz="18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;i++){</a:t>
            </a:r>
            <a:br>
              <a:rPr lang="en-US" sz="18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8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lang="en-US" sz="18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System</a:t>
            </a:r>
            <a:r>
              <a:rPr lang="en-US" sz="18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1800" b="0" i="1" u="none" strike="noStrike" cap="none">
                <a:solidFill>
                  <a:srgbClr val="87109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r>
              <a:rPr lang="en-US" sz="18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.println(</a:t>
            </a:r>
            <a:r>
              <a:rPr lang="en-US" sz="18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numbers</a:t>
            </a:r>
            <a:r>
              <a:rPr lang="en-US" sz="18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[i]);</a:t>
            </a:r>
            <a:br>
              <a:rPr lang="en-US" sz="18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8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}</a:t>
            </a:r>
            <a:br>
              <a:rPr lang="en-US" sz="18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8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sz="4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005fa368f6_0_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Shuffle Array</a:t>
            </a:r>
            <a:endParaRPr/>
          </a:p>
        </p:txBody>
      </p:sp>
      <p:sp>
        <p:nvSpPr>
          <p:cNvPr id="197" name="Google Shape;197;g3005fa368f6_0_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public static void </a:t>
            </a:r>
            <a:r>
              <a:rPr lang="en-US" sz="1350">
                <a:solidFill>
                  <a:srgbClr val="00627A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main</a:t>
            </a: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13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String</a:t>
            </a: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[] args) {</a:t>
            </a:r>
            <a:endParaRPr sz="135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-US" sz="135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int</a:t>
            </a: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[] </a:t>
            </a:r>
            <a:r>
              <a:rPr lang="en-US" sz="13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numbers </a:t>
            </a: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= {</a:t>
            </a:r>
            <a:r>
              <a:rPr lang="en-US" sz="1350">
                <a:solidFill>
                  <a:srgbClr val="1750EB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50</a:t>
            </a: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-US" sz="1350">
                <a:solidFill>
                  <a:srgbClr val="1750EB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80</a:t>
            </a: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-US" sz="1350">
                <a:solidFill>
                  <a:srgbClr val="1750EB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92</a:t>
            </a: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-US" sz="1350">
                <a:solidFill>
                  <a:srgbClr val="1750EB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15</a:t>
            </a: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-US" sz="1350">
                <a:solidFill>
                  <a:srgbClr val="1750EB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61</a:t>
            </a: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-US" sz="1350">
                <a:solidFill>
                  <a:srgbClr val="1750EB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10 </a:t>
            </a: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,</a:t>
            </a:r>
            <a:r>
              <a:rPr lang="en-US" sz="1350">
                <a:solidFill>
                  <a:srgbClr val="1750EB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78</a:t>
            </a: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-US" sz="1350">
                <a:solidFill>
                  <a:srgbClr val="1750EB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28</a:t>
            </a: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-US" sz="1350">
                <a:solidFill>
                  <a:srgbClr val="1750EB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44</a:t>
            </a: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};</a:t>
            </a:r>
            <a:endParaRPr sz="135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-US" sz="13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Random random</a:t>
            </a: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=</a:t>
            </a:r>
            <a:r>
              <a:rPr lang="en-US" sz="135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new </a:t>
            </a: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Random();</a:t>
            </a:r>
            <a:endParaRPr sz="135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-US" sz="135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for</a:t>
            </a: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135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int </a:t>
            </a:r>
            <a:r>
              <a:rPr lang="en-US" sz="13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i</a:t>
            </a: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=</a:t>
            </a:r>
            <a:r>
              <a:rPr lang="en-US" sz="1350">
                <a:solidFill>
                  <a:srgbClr val="1750EB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r>
              <a:rPr lang="en-US" sz="13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i</a:t>
            </a: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&lt;</a:t>
            </a:r>
            <a:r>
              <a:rPr lang="en-US" sz="13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numbers</a:t>
            </a: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1350">
                <a:solidFill>
                  <a:srgbClr val="871094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length</a:t>
            </a: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r>
              <a:rPr lang="en-US" sz="13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i</a:t>
            </a: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++){</a:t>
            </a:r>
            <a:endParaRPr sz="135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</a:t>
            </a:r>
            <a:r>
              <a:rPr lang="en-US" sz="135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int </a:t>
            </a:r>
            <a:r>
              <a:rPr lang="en-US" sz="13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index</a:t>
            </a: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= </a:t>
            </a:r>
            <a:r>
              <a:rPr lang="en-US" sz="13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random</a:t>
            </a: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.nextInt(</a:t>
            </a:r>
            <a:r>
              <a:rPr lang="en-US" sz="13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numbers</a:t>
            </a: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1350">
                <a:solidFill>
                  <a:srgbClr val="871094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length</a:t>
            </a: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);</a:t>
            </a:r>
            <a:endParaRPr sz="135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</a:t>
            </a:r>
            <a:r>
              <a:rPr lang="en-US" sz="135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int </a:t>
            </a:r>
            <a:r>
              <a:rPr lang="en-US" sz="13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temp </a:t>
            </a: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= </a:t>
            </a:r>
            <a:r>
              <a:rPr lang="en-US" sz="13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numbers</a:t>
            </a: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[</a:t>
            </a:r>
            <a:r>
              <a:rPr lang="en-US" sz="13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index</a:t>
            </a: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];</a:t>
            </a:r>
            <a:endParaRPr sz="135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</a:t>
            </a:r>
            <a:r>
              <a:rPr lang="en-US" sz="13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numbers</a:t>
            </a: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[</a:t>
            </a:r>
            <a:r>
              <a:rPr lang="en-US" sz="13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index</a:t>
            </a: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] = </a:t>
            </a:r>
            <a:r>
              <a:rPr lang="en-US" sz="13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numbers</a:t>
            </a: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[</a:t>
            </a:r>
            <a:r>
              <a:rPr lang="en-US" sz="13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i</a:t>
            </a: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];</a:t>
            </a:r>
            <a:endParaRPr sz="135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</a:t>
            </a:r>
            <a:r>
              <a:rPr lang="en-US" sz="13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numbers</a:t>
            </a: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[</a:t>
            </a:r>
            <a:r>
              <a:rPr lang="en-US" sz="13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i</a:t>
            </a: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] = </a:t>
            </a:r>
            <a:r>
              <a:rPr lang="en-US" sz="13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temp</a:t>
            </a: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endParaRPr sz="135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}</a:t>
            </a:r>
            <a:endParaRPr sz="135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-US" sz="13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System</a:t>
            </a: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1350" i="1">
                <a:solidFill>
                  <a:srgbClr val="871094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.println(</a:t>
            </a:r>
            <a:r>
              <a:rPr lang="en-US" sz="13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Arrays</a:t>
            </a: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1350" i="1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toString</a:t>
            </a: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13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numbers</a:t>
            </a: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));</a:t>
            </a:r>
            <a:endParaRPr sz="135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sz="135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1ed72ef041_1_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Find duplicate numbers count</a:t>
            </a:r>
            <a:endParaRPr/>
          </a:p>
        </p:txBody>
      </p:sp>
      <p:sp>
        <p:nvSpPr>
          <p:cNvPr id="204" name="Google Shape;204;g31ed72ef041_1_2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2"/>
          <p:cNvSpPr txBox="1">
            <a:spLocks noGrp="1"/>
          </p:cNvSpPr>
          <p:nvPr>
            <p:ph type="title"/>
          </p:nvPr>
        </p:nvSpPr>
        <p:spPr>
          <a:xfrm>
            <a:off x="1451579" y="804519"/>
            <a:ext cx="9603275" cy="389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Gill Sans"/>
              <a:buNone/>
            </a:pPr>
            <a:r>
              <a:rPr lang="en-US"/>
              <a:t>ARRAYLIST</a:t>
            </a:r>
            <a:endParaRPr/>
          </a:p>
        </p:txBody>
      </p:sp>
      <p:sp>
        <p:nvSpPr>
          <p:cNvPr id="243" name="Google Shape;243;p12"/>
          <p:cNvSpPr txBox="1">
            <a:spLocks noGrp="1"/>
          </p:cNvSpPr>
          <p:nvPr>
            <p:ph type="body" idx="1"/>
          </p:nvPr>
        </p:nvSpPr>
        <p:spPr>
          <a:xfrm>
            <a:off x="1450975" y="1994800"/>
            <a:ext cx="7301100" cy="332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B3"/>
              </a:buClr>
              <a:buSzPts val="1500"/>
              <a:buFont typeface="JetBrains Mono"/>
              <a:buNone/>
            </a:pPr>
            <a:r>
              <a:rPr lang="en-US" sz="1500" b="0" i="0" u="none" strike="noStrike" cap="none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public static void </a:t>
            </a:r>
            <a:r>
              <a:rPr lang="en-US" sz="1500" b="0" i="0" u="none" strike="noStrike" cap="none">
                <a:solidFill>
                  <a:srgbClr val="0062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main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15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String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[] args) {</a:t>
            </a:r>
            <a:b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5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ArrayList</a:t>
            </a:r>
            <a:r>
              <a:rPr lang="en-US" sz="150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5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fruits 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 </a:t>
            </a:r>
            <a:r>
              <a:rPr lang="en-US" sz="1500" b="0" i="0" u="none" strike="noStrike" cap="none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new 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ArrayList();</a:t>
            </a:r>
            <a:b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5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fruits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.add(</a:t>
            </a:r>
            <a:r>
              <a:rPr lang="en-US" sz="1500" b="0" i="0" u="none" strike="noStrike" cap="none">
                <a:solidFill>
                  <a:srgbClr val="067D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"Mango"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);</a:t>
            </a:r>
            <a:b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5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fruits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.add(</a:t>
            </a:r>
            <a:r>
              <a:rPr lang="en-US" sz="1500" b="0" i="0" u="none" strike="noStrike" cap="none">
                <a:solidFill>
                  <a:srgbClr val="067D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"Banana"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);</a:t>
            </a:r>
            <a:b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5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fruits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.add(</a:t>
            </a:r>
            <a:r>
              <a:rPr lang="en-US" sz="1500" b="0" i="0" u="none" strike="noStrike" cap="none">
                <a:solidFill>
                  <a:srgbClr val="067D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"Litchi"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);</a:t>
            </a:r>
            <a:b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5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fruits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.add(</a:t>
            </a:r>
            <a:r>
              <a:rPr lang="en-US" sz="1500" b="0" i="0" u="none" strike="noStrike" cap="none">
                <a:solidFill>
                  <a:srgbClr val="067D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"Jackfruit"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);</a:t>
            </a:r>
            <a:b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5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fruits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.add(</a:t>
            </a:r>
            <a:r>
              <a:rPr lang="en-US" sz="1500" b="0" i="0" u="none" strike="noStrike" cap="none">
                <a:solidFill>
                  <a:srgbClr val="067D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"Guava"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);</a:t>
            </a:r>
            <a:b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5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System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1500" b="0" i="1" u="none" strike="noStrike" cap="none">
                <a:solidFill>
                  <a:srgbClr val="87109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.println(</a:t>
            </a:r>
            <a:r>
              <a:rPr lang="en-US" sz="15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fruits.get(1)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); //Banana</a:t>
            </a:r>
            <a:b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b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5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String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[] </a:t>
            </a:r>
            <a:r>
              <a:rPr lang="en-US" sz="15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arr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 </a:t>
            </a:r>
            <a:r>
              <a:rPr lang="en-US" sz="15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fruits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.toArray(</a:t>
            </a:r>
            <a:r>
              <a:rPr lang="en-US" sz="1500" b="0" i="0" u="none" strike="noStrike" cap="none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new 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String[</a:t>
            </a:r>
            <a:r>
              <a:rPr lang="en-US" sz="1500" b="0" i="0" u="none" strike="noStrike" cap="none">
                <a:solidFill>
                  <a:srgbClr val="1750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]); </a:t>
            </a:r>
            <a:r>
              <a:rPr lang="en-US" sz="1500" b="0" i="1" u="none" strike="noStrike" cap="none">
                <a:solidFill>
                  <a:srgbClr val="8C8C8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//converting arraylist to array</a:t>
            </a:r>
            <a:br>
              <a:rPr lang="en-US" sz="1500" b="0" i="1" u="none" strike="noStrike" cap="none">
                <a:solidFill>
                  <a:srgbClr val="8C8C8C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1" u="none" strike="noStrike" cap="none">
                <a:solidFill>
                  <a:srgbClr val="8C8C8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5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System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1500" b="0" i="1" u="none" strike="noStrike" cap="none">
                <a:solidFill>
                  <a:srgbClr val="87109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.println(</a:t>
            </a:r>
            <a:r>
              <a:rPr lang="en-US" sz="15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arr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1500" b="0" i="0" u="none" strike="noStrike" cap="none">
                <a:solidFill>
                  <a:srgbClr val="87109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length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);</a:t>
            </a:r>
            <a:b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5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System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1500" b="0" i="1" u="none" strike="noStrike" cap="none">
                <a:solidFill>
                  <a:srgbClr val="87109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.println(</a:t>
            </a:r>
            <a:r>
              <a:rPr lang="en-US" sz="15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arr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</a:t>
            </a:r>
            <a:r>
              <a:rPr lang="en-US" sz="1500" b="0" i="0" u="none" strike="noStrike" cap="none">
                <a:solidFill>
                  <a:srgbClr val="1750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]);</a:t>
            </a:r>
            <a:b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8af06d07f2_0_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Hashset</a:t>
            </a:r>
            <a:endParaRPr/>
          </a:p>
        </p:txBody>
      </p:sp>
      <p:sp>
        <p:nvSpPr>
          <p:cNvPr id="250" name="Google Shape;250;g28af06d07f2_0_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0077A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-US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150">
                <a:solidFill>
                  <a:srgbClr val="0077A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-US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150">
                <a:solidFill>
                  <a:srgbClr val="DD4A6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-US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150">
                <a:solidFill>
                  <a:srgbClr val="9999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15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150">
                <a:solidFill>
                  <a:srgbClr val="0077A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-US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150">
                <a:solidFill>
                  <a:srgbClr val="0077A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static</a:t>
            </a:r>
            <a:r>
              <a:rPr lang="en-US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150">
                <a:solidFill>
                  <a:srgbClr val="0077A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-US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150">
                <a:solidFill>
                  <a:srgbClr val="DD4A6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-US" sz="1150">
                <a:solidFill>
                  <a:srgbClr val="9999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150">
                <a:solidFill>
                  <a:srgbClr val="DD4A6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-US" sz="1150">
                <a:solidFill>
                  <a:srgbClr val="9999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[]</a:t>
            </a:r>
            <a:r>
              <a:rPr lang="en-US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args</a:t>
            </a:r>
            <a:r>
              <a:rPr lang="en-US" sz="1150">
                <a:solidFill>
                  <a:srgbClr val="9999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150">
                <a:solidFill>
                  <a:srgbClr val="9999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15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1150">
                <a:solidFill>
                  <a:srgbClr val="DD4A6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HashSet</a:t>
            </a:r>
            <a:r>
              <a:rPr lang="en-US" sz="1150">
                <a:solidFill>
                  <a:srgbClr val="9999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150">
                <a:solidFill>
                  <a:srgbClr val="DD4A6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-US" sz="1150">
                <a:solidFill>
                  <a:srgbClr val="9999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-US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cars </a:t>
            </a:r>
            <a:r>
              <a:rPr lang="en-US" sz="1150">
                <a:solidFill>
                  <a:srgbClr val="9A6E3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150">
                <a:solidFill>
                  <a:srgbClr val="0077A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en-US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150">
                <a:solidFill>
                  <a:srgbClr val="DD4A6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HashSet</a:t>
            </a:r>
            <a:r>
              <a:rPr lang="en-US" sz="1150">
                <a:solidFill>
                  <a:srgbClr val="9999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150">
                <a:solidFill>
                  <a:srgbClr val="DD4A6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-US" sz="1150">
                <a:solidFill>
                  <a:srgbClr val="9999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&gt;();</a:t>
            </a:r>
            <a:endParaRPr sz="115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cars</a:t>
            </a:r>
            <a:r>
              <a:rPr lang="en-US" sz="1150">
                <a:solidFill>
                  <a:srgbClr val="9999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150">
                <a:solidFill>
                  <a:srgbClr val="DD4A6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add</a:t>
            </a:r>
            <a:r>
              <a:rPr lang="en-US" sz="1150">
                <a:solidFill>
                  <a:srgbClr val="9999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150">
                <a:solidFill>
                  <a:srgbClr val="66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"Volvo"</a:t>
            </a:r>
            <a:r>
              <a:rPr lang="en-US" sz="1150">
                <a:solidFill>
                  <a:srgbClr val="9999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15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cars</a:t>
            </a:r>
            <a:r>
              <a:rPr lang="en-US" sz="1150">
                <a:solidFill>
                  <a:srgbClr val="9999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150">
                <a:solidFill>
                  <a:srgbClr val="DD4A6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add</a:t>
            </a:r>
            <a:r>
              <a:rPr lang="en-US" sz="1150">
                <a:solidFill>
                  <a:srgbClr val="9999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150">
                <a:solidFill>
                  <a:srgbClr val="66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"BMW"</a:t>
            </a:r>
            <a:r>
              <a:rPr lang="en-US" sz="1150">
                <a:solidFill>
                  <a:srgbClr val="9999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15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cars</a:t>
            </a:r>
            <a:r>
              <a:rPr lang="en-US" sz="1150">
                <a:solidFill>
                  <a:srgbClr val="9999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150">
                <a:solidFill>
                  <a:srgbClr val="DD4A6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add</a:t>
            </a:r>
            <a:r>
              <a:rPr lang="en-US" sz="1150">
                <a:solidFill>
                  <a:srgbClr val="9999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150">
                <a:solidFill>
                  <a:srgbClr val="66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"Ford"</a:t>
            </a:r>
            <a:r>
              <a:rPr lang="en-US" sz="1150">
                <a:solidFill>
                  <a:srgbClr val="9999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15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cars</a:t>
            </a:r>
            <a:r>
              <a:rPr lang="en-US" sz="1150">
                <a:solidFill>
                  <a:srgbClr val="9999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150">
                <a:solidFill>
                  <a:srgbClr val="DD4A6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add</a:t>
            </a:r>
            <a:r>
              <a:rPr lang="en-US" sz="1150">
                <a:solidFill>
                  <a:srgbClr val="9999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150">
                <a:solidFill>
                  <a:srgbClr val="66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"BMW"</a:t>
            </a:r>
            <a:r>
              <a:rPr lang="en-US" sz="1150">
                <a:solidFill>
                  <a:srgbClr val="9999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15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cars</a:t>
            </a:r>
            <a:r>
              <a:rPr lang="en-US" sz="1150">
                <a:solidFill>
                  <a:srgbClr val="9999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150">
                <a:solidFill>
                  <a:srgbClr val="DD4A6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add</a:t>
            </a:r>
            <a:r>
              <a:rPr lang="en-US" sz="1150">
                <a:solidFill>
                  <a:srgbClr val="9999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150">
                <a:solidFill>
                  <a:srgbClr val="66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"Mazda"</a:t>
            </a:r>
            <a:r>
              <a:rPr lang="en-US" sz="1150">
                <a:solidFill>
                  <a:srgbClr val="9999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15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1150">
                <a:solidFill>
                  <a:srgbClr val="DD4A6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lang="en-US" sz="1150">
                <a:solidFill>
                  <a:srgbClr val="9999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out</a:t>
            </a:r>
            <a:r>
              <a:rPr lang="en-US" sz="1150">
                <a:solidFill>
                  <a:srgbClr val="9999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150">
                <a:solidFill>
                  <a:srgbClr val="DD4A6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println</a:t>
            </a:r>
            <a:r>
              <a:rPr lang="en-US" sz="1150">
                <a:solidFill>
                  <a:srgbClr val="9999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cars</a:t>
            </a:r>
            <a:r>
              <a:rPr lang="en-US" sz="1150">
                <a:solidFill>
                  <a:srgbClr val="9999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15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150">
                <a:solidFill>
                  <a:srgbClr val="9999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15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152400" marR="15240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9999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150">
              <a:solidFill>
                <a:srgbClr val="999999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152400" marR="15240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9999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</a:t>
            </a:r>
            <a:r>
              <a:rPr lang="en-US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cars</a:t>
            </a:r>
            <a:r>
              <a:rPr lang="en-US" sz="1150">
                <a:solidFill>
                  <a:srgbClr val="9999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150">
                <a:solidFill>
                  <a:srgbClr val="DD4A6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contains</a:t>
            </a:r>
            <a:r>
              <a:rPr lang="en-US" sz="1150">
                <a:solidFill>
                  <a:srgbClr val="9999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150">
                <a:solidFill>
                  <a:srgbClr val="66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"Mazda"</a:t>
            </a:r>
            <a:r>
              <a:rPr lang="en-US" sz="1150">
                <a:solidFill>
                  <a:srgbClr val="9999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 //to check if element exists</a:t>
            </a:r>
            <a:endParaRPr sz="1150">
              <a:solidFill>
                <a:srgbClr val="999999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152400" marR="15240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9999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</a:t>
            </a:r>
            <a:r>
              <a:rPr lang="en-US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cars</a:t>
            </a:r>
            <a:r>
              <a:rPr lang="en-US" sz="1150">
                <a:solidFill>
                  <a:srgbClr val="9999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150">
                <a:solidFill>
                  <a:srgbClr val="DD4A6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remove</a:t>
            </a:r>
            <a:r>
              <a:rPr lang="en-US" sz="1150">
                <a:solidFill>
                  <a:srgbClr val="9999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150">
                <a:solidFill>
                  <a:srgbClr val="66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"Volvo"</a:t>
            </a:r>
            <a:r>
              <a:rPr lang="en-US" sz="1150">
                <a:solidFill>
                  <a:srgbClr val="9999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150">
              <a:solidFill>
                <a:srgbClr val="999999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152400" marR="15240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95652"/>
              <a:buFont typeface="Arial"/>
              <a:buNone/>
            </a:pPr>
            <a:endParaRPr sz="1150">
              <a:solidFill>
                <a:srgbClr val="999999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1ed72ef041_1_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Find unique values in an array</a:t>
            </a:r>
            <a:endParaRPr/>
          </a:p>
        </p:txBody>
      </p:sp>
      <p:sp>
        <p:nvSpPr>
          <p:cNvPr id="257" name="Google Shape;257;g31ed72ef041_1_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public static void </a:t>
            </a:r>
            <a:r>
              <a:rPr lang="en-US" sz="1350">
                <a:solidFill>
                  <a:srgbClr val="00627A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main</a:t>
            </a: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13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String</a:t>
            </a: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[] args) {</a:t>
            </a:r>
            <a:endParaRPr sz="135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-US" sz="135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int</a:t>
            </a: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[] </a:t>
            </a:r>
            <a:r>
              <a:rPr lang="en-US" sz="13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numbers </a:t>
            </a: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= {</a:t>
            </a:r>
            <a:r>
              <a:rPr lang="en-US" sz="1350">
                <a:solidFill>
                  <a:srgbClr val="1750EB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8</a:t>
            </a: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-US" sz="1350">
                <a:solidFill>
                  <a:srgbClr val="1750EB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7</a:t>
            </a: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-US" sz="1350">
                <a:solidFill>
                  <a:srgbClr val="1750EB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8</a:t>
            </a: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-US" sz="1350">
                <a:solidFill>
                  <a:srgbClr val="1750EB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9</a:t>
            </a: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-US" sz="1350">
                <a:solidFill>
                  <a:srgbClr val="1750EB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9</a:t>
            </a: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-US" sz="1350">
                <a:solidFill>
                  <a:srgbClr val="1750EB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5</a:t>
            </a: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-US" sz="1350">
                <a:solidFill>
                  <a:srgbClr val="1750EB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-US" sz="1350">
                <a:solidFill>
                  <a:srgbClr val="1750EB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};</a:t>
            </a:r>
            <a:endParaRPr sz="135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-US" sz="13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HashSet</a:t>
            </a: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&lt;</a:t>
            </a:r>
            <a:r>
              <a:rPr lang="en-US" sz="13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Integer</a:t>
            </a: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&gt; </a:t>
            </a:r>
            <a:r>
              <a:rPr lang="en-US" sz="13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hashSet </a:t>
            </a: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= </a:t>
            </a:r>
            <a:r>
              <a:rPr lang="en-US" sz="135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new </a:t>
            </a: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HashSet();</a:t>
            </a:r>
            <a:endParaRPr sz="135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-US" sz="135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for </a:t>
            </a: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135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int </a:t>
            </a:r>
            <a:r>
              <a:rPr lang="en-US" sz="13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c </a:t>
            </a: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13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numbers</a:t>
            </a: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 {</a:t>
            </a:r>
            <a:endParaRPr sz="135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</a:t>
            </a:r>
            <a:r>
              <a:rPr lang="en-US" sz="13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hashSet</a:t>
            </a: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.add(</a:t>
            </a:r>
            <a:r>
              <a:rPr lang="en-US" sz="13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c</a:t>
            </a: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);</a:t>
            </a:r>
            <a:endParaRPr sz="135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}</a:t>
            </a:r>
            <a:endParaRPr sz="135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35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-US" sz="13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System</a:t>
            </a: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1350" i="1">
                <a:solidFill>
                  <a:srgbClr val="871094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.println(</a:t>
            </a:r>
            <a:r>
              <a:rPr lang="en-US" sz="13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hashSet</a:t>
            </a: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);</a:t>
            </a:r>
            <a:endParaRPr sz="135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sz="135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n-US"/>
              <a:t>HASHMAP</a:t>
            </a:r>
            <a:endParaRPr/>
          </a:p>
        </p:txBody>
      </p:sp>
      <p:sp>
        <p:nvSpPr>
          <p:cNvPr id="263" name="Google Shape;263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47500" lnSpcReduction="20000"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public static void main(String[] args) {</a:t>
            </a:r>
            <a:endParaRPr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HashMap&lt;String, String&gt; capitalCities = new HashMap&lt;String, String&gt;();</a:t>
            </a:r>
            <a:endParaRPr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// Add keys and values (Country, City)</a:t>
            </a:r>
            <a:endParaRPr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capitalCities.put("England", "London");</a:t>
            </a:r>
            <a:endParaRPr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capitalCities.put("Germany", "Berlin");</a:t>
            </a:r>
            <a:endParaRPr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capitalCities.put("Norway", "Oslo");</a:t>
            </a:r>
            <a:endParaRPr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capitalCities.put("USA", "Washington DC");</a:t>
            </a:r>
            <a:endParaRPr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System.out.println(capitalCities); {England: London}</a:t>
            </a:r>
            <a:endParaRPr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System.out.println(capitalCities.get("USA"));</a:t>
            </a:r>
            <a:endParaRPr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System.out.println(capitalCities.containsKey("USA"));</a:t>
            </a:r>
            <a:endParaRPr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}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1ed72ef041_1_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to find duplicate values?</a:t>
            </a:r>
            <a:endParaRPr/>
          </a:p>
        </p:txBody>
      </p:sp>
      <p:sp>
        <p:nvSpPr>
          <p:cNvPr id="270" name="Google Shape;270;g31ed72ef041_1_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810</TotalTime>
  <Words>2714</Words>
  <Application>Microsoft Office PowerPoint</Application>
  <PresentationFormat>Widescreen</PresentationFormat>
  <Paragraphs>351</Paragraphs>
  <Slides>38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6" baseType="lpstr">
      <vt:lpstr>Gill Sans</vt:lpstr>
      <vt:lpstr>Verdana</vt:lpstr>
      <vt:lpstr>Courier New</vt:lpstr>
      <vt:lpstr>JetBrains Mono</vt:lpstr>
      <vt:lpstr>Symbol</vt:lpstr>
      <vt:lpstr>Calibri</vt:lpstr>
      <vt:lpstr>Arial</vt:lpstr>
      <vt:lpstr>Office Theme</vt:lpstr>
      <vt:lpstr>BASIC JAVA CLASS-3</vt:lpstr>
      <vt:lpstr>CONTENTS</vt:lpstr>
      <vt:lpstr>Create and call a function</vt:lpstr>
      <vt:lpstr>Passing an argument</vt:lpstr>
      <vt:lpstr>Return type of method</vt:lpstr>
      <vt:lpstr>Check Prime method</vt:lpstr>
      <vt:lpstr>Check Prime method (Part 2)</vt:lpstr>
      <vt:lpstr>Check Prime number between 1 to 100</vt:lpstr>
      <vt:lpstr>FUNCTION/METHOD</vt:lpstr>
      <vt:lpstr>Factorial of a number Explanation</vt:lpstr>
      <vt:lpstr>Factorial using Iteration</vt:lpstr>
      <vt:lpstr>Recursion [ Recursion means self calling function ]</vt:lpstr>
      <vt:lpstr>Calculate Fibonacci series till the nth position by using recursion</vt:lpstr>
      <vt:lpstr>Time complexity</vt:lpstr>
      <vt:lpstr>ARRAY</vt:lpstr>
      <vt:lpstr>1D ARRAY </vt:lpstr>
      <vt:lpstr>ARRAY EXAMPLE</vt:lpstr>
      <vt:lpstr>FOREACH LOOP</vt:lpstr>
      <vt:lpstr>Calculate sum of values in an array</vt:lpstr>
      <vt:lpstr>Find max and min from the array</vt:lpstr>
      <vt:lpstr>Find max and min in array</vt:lpstr>
      <vt:lpstr>Find out second max number from array</vt:lpstr>
      <vt:lpstr>2D ARRAY </vt:lpstr>
      <vt:lpstr>2D ARRAY EXAMPLE </vt:lpstr>
      <vt:lpstr>Find a given element is exists in array (Linear Searching)</vt:lpstr>
      <vt:lpstr>Binary Search Theory For Binary Search , the given array must be sorted.</vt:lpstr>
      <vt:lpstr>Binary searching</vt:lpstr>
      <vt:lpstr>ARRAY PROGRAMS</vt:lpstr>
      <vt:lpstr>Find duplicate numbers in array</vt:lpstr>
      <vt:lpstr>Sort Array in ascending order</vt:lpstr>
      <vt:lpstr>ARRAY SORT [Method-2]</vt:lpstr>
      <vt:lpstr>Shuffle Array</vt:lpstr>
      <vt:lpstr>Find duplicate numbers count</vt:lpstr>
      <vt:lpstr>ARRAYLIST</vt:lpstr>
      <vt:lpstr>Hashset</vt:lpstr>
      <vt:lpstr>Find unique values in an array</vt:lpstr>
      <vt:lpstr>HASHMAP</vt:lpstr>
      <vt:lpstr>How to find duplicate values?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Salman Srabon</dc:creator>
  <cp:lastModifiedBy>Shouvik Datta</cp:lastModifiedBy>
  <cp:revision>6</cp:revision>
  <dcterms:created xsi:type="dcterms:W3CDTF">2021-07-21T10:28:43Z</dcterms:created>
  <dcterms:modified xsi:type="dcterms:W3CDTF">2025-09-21T16:59:24Z</dcterms:modified>
</cp:coreProperties>
</file>