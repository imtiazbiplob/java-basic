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8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4" r:id="rId17"/>
    <p:sldId id="285" r:id="rId18"/>
    <p:sldId id="270" r:id="rId19"/>
    <p:sldId id="271" r:id="rId20"/>
    <p:sldId id="272" r:id="rId21"/>
    <p:sldId id="286" r:id="rId22"/>
    <p:sldId id="273" r:id="rId23"/>
    <p:sldId id="274" r:id="rId24"/>
    <p:sldId id="275" r:id="rId25"/>
    <p:sldId id="287" r:id="rId26"/>
    <p:sldId id="276" r:id="rId27"/>
    <p:sldId id="277" r:id="rId28"/>
    <p:sldId id="278" r:id="rId29"/>
    <p:sldId id="289" r:id="rId30"/>
    <p:sldId id="280" r:id="rId31"/>
    <p:sldId id="281" r:id="rId32"/>
    <p:sldId id="282" r:id="rId33"/>
  </p:sldIdLst>
  <p:sldSz cx="12192000" cy="6858000"/>
  <p:notesSz cx="6858000" cy="9144000"/>
  <p:embeddedFontLst>
    <p:embeddedFont>
      <p:font typeface="Arial Black" panose="020B0A04020102020204" pitchFamily="34" charset="0"/>
      <p:regular r:id="rId35"/>
      <p:bold r:id="rId36"/>
    </p:embeddedFont>
    <p:embeddedFont>
      <p:font typeface="Economica" panose="020B0604020202020204" charset="0"/>
      <p:regular r:id="rId37"/>
      <p:bold r:id="rId38"/>
      <p:italic r:id="rId39"/>
      <p:boldItalic r:id="rId40"/>
    </p:embeddedFont>
    <p:embeddedFont>
      <p:font typeface="JetBrains Mono" panose="020B0604020202020204" charset="0"/>
      <p:regular r:id="rId41"/>
      <p:bold r:id="rId42"/>
      <p:italic r:id="rId43"/>
      <p:boldItalic r:id="rId44"/>
    </p:embeddedFont>
    <p:embeddedFont>
      <p:font typeface="Maven Pro" panose="020B0604020202020204" charset="0"/>
      <p:regular r:id="rId45"/>
      <p:bold r:id="rId46"/>
    </p:embeddedFont>
    <p:embeddedFont>
      <p:font typeface="Nunito" pitchFamily="2" charset="0"/>
      <p:regular r:id="rId47"/>
      <p:bold r:id="rId48"/>
      <p:italic r:id="rId49"/>
      <p:boldItalic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8BDtIm3lVOOOoiaQEqOR9pSEe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D41BF7-7EB9-41E8-8038-6210645F4EC0}">
  <a:tblStyle styleId="{8DD41BF7-7EB9-41E8-8038-6210645F4EC0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lef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9524A87-5137-4B77-BF30-43D4C53502D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" name="Google Shape;2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f99e6c51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g2ff99e6c51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1" name="Google Shape;3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3a1b49fa7d_0_20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13a1b49fa7d_0_20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3" name="Google Shape;3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9" name="Google Shape;3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5" name="Google Shape;3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0" name="Google Shape;3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6" name="Google Shape;3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2" name="Google Shape;3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3a1b49fa7d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13a1b49fa7d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4" name="Google Shape;3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3a1b49fa7d_0_2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13a1b49fa7d_0_2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3" name="Google Shape;3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9" name="Google Shape;3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5" name="Google Shape;3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3a1b49fa7d_0_2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13a1b49fa7d_0_2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ff99e6c51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g2ff99e6c51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ff99e6c51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g2ff99e6c51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f99e6c51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4" name="Google Shape;414;g2ff99e6c51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4377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f99e6c51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6" name="Google Shape;426;g2ff99e6c51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ff99e6c51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2" name="Google Shape;432;g2ff99e6c51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ff99e6c51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8" name="Google Shape;438;g2ff99e6c51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240badd7163_0_57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1" name="Google Shape;11;g240badd7163_0_57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g240badd7163_0_57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g240badd7163_0_57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g240badd7163_0_57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g240badd7163_0_57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g240badd7163_0_57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g240badd7163_0_57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g240badd7163_0_57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g240badd7163_0_57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g240badd7163_0_57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g240badd7163_0_57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g240badd7163_0_57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g240badd7163_0_57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g240badd7163_0_57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g240badd7163_0_57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g240badd7163_0_57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g240badd7163_0_57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g240badd7163_0_57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g240badd7163_0_57"/>
          <p:cNvGrpSpPr/>
          <p:nvPr/>
        </p:nvGrpSpPr>
        <p:grpSpPr>
          <a:xfrm>
            <a:off x="6724502" y="0"/>
            <a:ext cx="5085303" cy="5118671"/>
            <a:chOff x="5043503" y="0"/>
            <a:chExt cx="3814072" cy="3839102"/>
          </a:xfrm>
        </p:grpSpPr>
        <p:sp>
          <p:nvSpPr>
            <p:cNvPr id="30" name="Google Shape;30;g240badd7163_0_57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40badd7163_0_57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g240badd7163_0_57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g240badd7163_0_57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g240badd7163_0_57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g240badd7163_0_57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g240badd7163_0_57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g240badd7163_0_57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g240badd7163_0_5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g240badd7163_0_5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g240badd7163_0_57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40badd7163_0_57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40badd7163_0_57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40badd7163_0_57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40badd7163_0_57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240badd7163_0_57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7843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g240badd7163_0_57"/>
          <p:cNvSpPr txBox="1">
            <a:spLocks noGrp="1"/>
          </p:cNvSpPr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240badd7163_0_57"/>
          <p:cNvSpPr txBox="1">
            <a:spLocks noGrp="1"/>
          </p:cNvSpPr>
          <p:nvPr>
            <p:ph type="subTitle" idx="1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240badd7163_0_5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40badd7163_0_32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240badd7163_0_321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240badd7163_0_32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240badd7163_0_321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g240badd7163_0_321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5" name="Google Shape;55;g240badd7163_0_321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240badd7163_0_132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58" name="Google Shape;58;g240badd7163_0_13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240badd7163_0_13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g240badd7163_0_132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40badd7163_0_132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g240badd7163_0_132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g240badd7163_0_97"/>
          <p:cNvGrpSpPr/>
          <p:nvPr/>
        </p:nvGrpSpPr>
        <p:grpSpPr>
          <a:xfrm>
            <a:off x="195687" y="4541"/>
            <a:ext cx="1644244" cy="1846001"/>
            <a:chOff x="146769" y="3406"/>
            <a:chExt cx="1233214" cy="1384535"/>
          </a:xfrm>
        </p:grpSpPr>
        <p:grpSp>
          <p:nvGrpSpPr>
            <p:cNvPr id="65" name="Google Shape;65;g240badd7163_0_9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6" name="Google Shape;66;g240badd7163_0_9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g240badd7163_0_9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g240badd7163_0_9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9" name="Google Shape;69;g240badd7163_0_9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g240badd7163_0_9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g240badd7163_0_9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g240badd7163_0_9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73" name="Google Shape;73;g240badd7163_0_9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240badd7163_0_9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g240badd7163_0_9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g240badd7163_0_9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" name="Google Shape;77;g240badd7163_0_97"/>
          <p:cNvGrpSpPr/>
          <p:nvPr/>
        </p:nvGrpSpPr>
        <p:grpSpPr>
          <a:xfrm>
            <a:off x="9033219" y="3871914"/>
            <a:ext cx="2914790" cy="2985925"/>
            <a:chOff x="6775084" y="2904008"/>
            <a:chExt cx="2186147" cy="2239500"/>
          </a:xfrm>
        </p:grpSpPr>
        <p:grpSp>
          <p:nvGrpSpPr>
            <p:cNvPr id="78" name="Google Shape;78;g240badd7163_0_9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9" name="Google Shape;79;g240badd7163_0_9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g240badd7163_0_9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g240badd7163_0_9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82" name="Google Shape;82;g240badd7163_0_9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g240badd7163_0_9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g240badd7163_0_9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g240badd7163_0_9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6" name="Google Shape;86;g240badd7163_0_9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g240badd7163_0_9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g240badd7163_0_9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g240badd7163_0_9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g240badd7163_0_9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91" name="Google Shape;91;g240badd7163_0_9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g240badd7163_0_9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g240badd7163_0_9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g240badd7163_0_9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g240badd7163_0_9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" name="Google Shape;96;g240badd7163_0_97"/>
          <p:cNvSpPr txBox="1">
            <a:spLocks noGrp="1"/>
          </p:cNvSpPr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g240badd7163_0_9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g240badd7163_0_13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0" name="Google Shape;100;g240badd7163_0_13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240badd7163_0_13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g240badd7163_0_139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40badd7163_0_139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g240badd7163_0_139"/>
          <p:cNvSpPr txBox="1">
            <a:spLocks noGrp="1"/>
          </p:cNvSpPr>
          <p:nvPr>
            <p:ph type="body" idx="2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g240badd7163_0_13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g240badd7163_0_14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8" name="Google Shape;108;g240badd7163_0_14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240badd7163_0_14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g240badd7163_0_147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240badd7163_0_147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g240badd7163_0_153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14" name="Google Shape;114;g240badd7163_0_15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240badd7163_0_15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g240badd7163_0_153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240badd7163_0_153"/>
          <p:cNvSpPr txBox="1">
            <a:spLocks noGrp="1"/>
          </p:cNvSpPr>
          <p:nvPr>
            <p:ph type="body" idx="1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g240badd7163_0_15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g240badd7163_0_160"/>
          <p:cNvGrpSpPr/>
          <p:nvPr/>
        </p:nvGrpSpPr>
        <p:grpSpPr>
          <a:xfrm>
            <a:off x="9155392" y="1678"/>
            <a:ext cx="3023094" cy="3468901"/>
            <a:chOff x="6790514" y="1255"/>
            <a:chExt cx="2267380" cy="2601741"/>
          </a:xfrm>
        </p:grpSpPr>
        <p:grpSp>
          <p:nvGrpSpPr>
            <p:cNvPr id="121" name="Google Shape;121;g240badd7163_0_160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22" name="Google Shape;122;g240badd7163_0_16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g240badd7163_0_16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g240badd7163_0_16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g240badd7163_0_160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6" name="Google Shape;126;g240badd7163_0_16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g240badd7163_0_16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g240badd7163_0_16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" name="Google Shape;129;g240badd7163_0_16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30" name="Google Shape;130;g240badd7163_0_16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g240badd7163_0_16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" name="Google Shape;132;g240badd7163_0_160"/>
          <p:cNvSpPr txBox="1">
            <a:spLocks noGrp="1"/>
          </p:cNvSpPr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g240badd7163_0_160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g240badd7163_0_17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6" name="Google Shape;136;g240badd7163_0_17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240badd7163_0_17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g240badd7163_0_175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240badd7163_0_175"/>
          <p:cNvSpPr txBox="1">
            <a:spLocks noGrp="1"/>
          </p:cNvSpPr>
          <p:nvPr>
            <p:ph type="subTitle" idx="1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0" name="Google Shape;140;g240badd7163_0_175"/>
          <p:cNvSpPr txBox="1">
            <a:spLocks noGrp="1"/>
          </p:cNvSpPr>
          <p:nvPr>
            <p:ph type="body" idx="2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g240badd7163_0_175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g240badd7163_0_183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44" name="Google Shape;144;g240badd7163_0_18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240badd7163_0_18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098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g240badd7163_0_183"/>
          <p:cNvSpPr txBox="1">
            <a:spLocks noGrp="1"/>
          </p:cNvSpPr>
          <p:nvPr>
            <p:ph type="body" idx="1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47" name="Google Shape;147;g240badd7163_0_18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g240badd7163_0_189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50" name="Google Shape;150;g240badd7163_0_189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51" name="Google Shape;151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g240badd7163_0_18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g240badd7163_0_189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6" name="Google Shape;156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g240badd7163_0_18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g240badd7163_0_189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g240badd7163_0_189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62" name="Google Shape;162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g240badd7163_0_18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g240badd7163_0_189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7" name="Google Shape;167;g240badd7163_0_18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g240badd7163_0_18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g240badd7163_0_18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g240badd7163_0_189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71" name="Google Shape;171;g240badd7163_0_189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g240badd7163_0_189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g240badd7163_0_189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g240badd7163_0_189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g240badd7163_0_189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g240badd7163_0_189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7" name="Google Shape;177;g240badd7163_0_189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g240badd7163_0_189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g240badd7163_0_189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240badd7163_0_189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g240badd7163_0_189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82" name="Google Shape;182;g240badd7163_0_189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g240badd7163_0_189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g240badd7163_0_189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g240badd7163_0_189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6" name="Google Shape;186;g240badd7163_0_189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g240badd7163_0_189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g240badd7163_0_189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g240badd7163_0_189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g240badd7163_0_189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g240badd7163_0_189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92" name="Google Shape;192;g240badd7163_0_189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g240badd7163_0_189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g240badd7163_0_189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g240badd7163_0_189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g240badd7163_0_189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7" name="Google Shape;197;g240badd7163_0_189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g240badd7163_0_189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g240badd7163_0_189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g240badd7163_0_189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g240badd7163_0_189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202" name="Google Shape;202;g240badd7163_0_189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g240badd7163_0_189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g240badd7163_0_189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g240badd7163_0_189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6" name="Google Shape;206;g240badd7163_0_189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g240badd7163_0_189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g240badd7163_0_189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g240badd7163_0_189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g240badd7163_0_189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11" name="Google Shape;211;g240badd7163_0_189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g240badd7163_0_189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g240badd7163_0_189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g240badd7163_0_189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g240badd7163_0_189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6" name="Google Shape;216;g240badd7163_0_189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g240badd7163_0_189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g240badd7163_0_189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g240badd7163_0_189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g240badd7163_0_189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g240badd7163_0_189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22" name="Google Shape;222;g240badd7163_0_189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g240badd7163_0_189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g240badd7163_0_189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g240badd7163_0_189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g240badd7163_0_189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7" name="Google Shape;227;g240badd7163_0_189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g240badd7163_0_189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g240badd7163_0_189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g240badd7163_0_189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31" name="Google Shape;231;g240badd7163_0_189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g240badd7163_0_189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g240badd7163_0_189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g240badd7163_0_189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g240badd7163_0_189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6" name="Google Shape;236;g240badd7163_0_189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g240badd7163_0_189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g240badd7163_0_189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g240badd7163_0_189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240badd7163_0_189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g240badd7163_0_189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42" name="Google Shape;242;g240badd7163_0_189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240badd7163_0_189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g240badd7163_0_189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g240badd7163_0_189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" name="Google Shape;246;g240badd7163_0_189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7" name="Google Shape;247;g240badd7163_0_189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g240badd7163_0_189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g240badd7163_0_189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g240badd7163_0_189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51" name="Google Shape;251;g240badd7163_0_189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g240badd7163_0_189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g240badd7163_0_189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g240badd7163_0_189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g240badd7163_0_189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g240badd7163_0_189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7" name="Google Shape;257;g240badd7163_0_189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g240badd7163_0_189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g240badd7163_0_189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g240badd7163_0_189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g240badd7163_0_189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62" name="Google Shape;262;g240badd7163_0_189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g240badd7163_0_189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g240badd7163_0_189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g240badd7163_0_189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g240badd7163_0_189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7" name="Google Shape;267;g240badd7163_0_189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g240badd7163_0_189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g240badd7163_0_189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0" name="Google Shape;270;g240badd7163_0_189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71" name="Google Shape;271;g240badd7163_0_189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g240badd7163_0_189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g240badd7163_0_189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g240badd7163_0_189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7843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5" name="Google Shape;275;g240badd7163_0_189"/>
          <p:cNvSpPr txBox="1">
            <a:spLocks noGrp="1"/>
          </p:cNvSpPr>
          <p:nvPr>
            <p:ph type="title" hasCustomPrompt="1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6" name="Google Shape;276;g240badd7163_0_189"/>
          <p:cNvSpPr txBox="1">
            <a:spLocks noGrp="1"/>
          </p:cNvSpPr>
          <p:nvPr>
            <p:ph type="body" idx="1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marL="1371600" lvl="2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marL="1828800" lvl="3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marL="2286000" lvl="4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marL="2743200" lvl="5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marL="3200400" lvl="6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marL="3657600" lvl="7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marL="4114800" lvl="8" indent="-3238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g240badd7163_0_18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40badd7163_0_319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40badd7163_0_5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sz="3700" b="1" i="0" u="none" strike="noStrike" cap="non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g240badd7163_0_5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g240badd7163_0_53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"/>
          <p:cNvSpPr txBox="1">
            <a:spLocks noGrp="1"/>
          </p:cNvSpPr>
          <p:nvPr>
            <p:ph type="ctrTitle"/>
          </p:nvPr>
        </p:nvSpPr>
        <p:spPr>
          <a:xfrm>
            <a:off x="82977" y="1084300"/>
            <a:ext cx="6748800" cy="15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 sz="5000"/>
              <a:t>JAVA Part-1</a:t>
            </a:r>
            <a:endParaRPr/>
          </a:p>
        </p:txBody>
      </p:sp>
      <p:sp>
        <p:nvSpPr>
          <p:cNvPr id="285" name="Google Shape;285;p1"/>
          <p:cNvSpPr txBox="1">
            <a:spLocks noGrp="1"/>
          </p:cNvSpPr>
          <p:nvPr>
            <p:ph type="subTitle" idx="1"/>
          </p:nvPr>
        </p:nvSpPr>
        <p:spPr>
          <a:xfrm>
            <a:off x="4578495" y="4392891"/>
            <a:ext cx="3827910" cy="133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500"/>
              <a:t>Salman Rahmn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500"/>
              <a:t>Sr. Software Engineer</a:t>
            </a:r>
            <a:endParaRPr sz="250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500"/>
              <a:t>Cefalo</a:t>
            </a:r>
            <a:endParaRPr sz="2500"/>
          </a:p>
        </p:txBody>
      </p:sp>
      <p:pic>
        <p:nvPicPr>
          <p:cNvPr id="286" name="Google Shape;2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6700" y="1266550"/>
            <a:ext cx="1855200" cy="1855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92" name="Google Shape;292;p2"/>
          <p:cNvSpPr txBox="1">
            <a:spLocks noGrp="1"/>
          </p:cNvSpPr>
          <p:nvPr>
            <p:ph type="body" idx="1"/>
          </p:nvPr>
        </p:nvSpPr>
        <p:spPr>
          <a:xfrm>
            <a:off x="1451600" y="2015725"/>
            <a:ext cx="9603300" cy="48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Introduction to Java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Setup JDK, Intellij IDEA and Gradle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Java Variables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Rules of variable writing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Escape sequence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Data Types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Type Casting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Operators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Gill Sans"/>
              <a:buAutoNum type="arabicPeriod"/>
            </a:pPr>
            <a:r>
              <a:rPr lang="en-US" sz="1735"/>
              <a:t>Math Functions</a:t>
            </a:r>
            <a:endParaRPr sz="1735"/>
          </a:p>
          <a:p>
            <a:pPr marL="514350" lvl="0" indent="-514350" algn="l" rtl="0">
              <a:lnSpc>
                <a:spcPct val="110000"/>
              </a:lnSpc>
              <a:spcBef>
                <a:spcPts val="1000"/>
              </a:spcBef>
              <a:spcAft>
                <a:spcPts val="1600"/>
              </a:spcAft>
              <a:buSzPts val="1900"/>
              <a:buFont typeface="Gill Sans"/>
              <a:buAutoNum type="arabicPeriod"/>
            </a:pPr>
            <a:r>
              <a:rPr lang="en-US" sz="1735"/>
              <a:t>User Input</a:t>
            </a:r>
            <a:endParaRPr sz="173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ff99e6c51d_0_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98" name="Google Shape;298;g2ff99e6c51d_0_5"/>
          <p:cNvSpPr txBox="1">
            <a:spLocks noGrp="1"/>
          </p:cNvSpPr>
          <p:nvPr>
            <p:ph type="body" idx="1"/>
          </p:nvPr>
        </p:nvSpPr>
        <p:spPr>
          <a:xfrm>
            <a:off x="1451575" y="2015725"/>
            <a:ext cx="9603300" cy="44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11. Conditional Statement</a:t>
            </a:r>
            <a:endParaRPr sz="1800"/>
          </a:p>
          <a:p>
            <a:pPr marL="685800" lvl="1" indent="-24574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If-Else</a:t>
            </a:r>
            <a:endParaRPr sz="1800"/>
          </a:p>
          <a:p>
            <a:pPr marL="685800" lvl="1" indent="-24574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Switch case</a:t>
            </a: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12. Break</a:t>
            </a: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13. Continue</a:t>
            </a:r>
            <a:endParaRPr sz="1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14. Loop</a:t>
            </a:r>
            <a:endParaRPr sz="1800"/>
          </a:p>
          <a:p>
            <a:pPr marL="685800" lvl="1" indent="-24574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For Loop</a:t>
            </a:r>
            <a:endParaRPr sz="1800"/>
          </a:p>
          <a:p>
            <a:pPr marL="685800" lvl="1" indent="-24574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While Loop</a:t>
            </a:r>
            <a:endParaRPr sz="1800"/>
          </a:p>
          <a:p>
            <a:pPr marL="685800" lvl="1" indent="-24574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Do While Loop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INTRODUCTION TO JAVA</a:t>
            </a:r>
            <a:endParaRPr/>
          </a:p>
        </p:txBody>
      </p:sp>
      <p:sp>
        <p:nvSpPr>
          <p:cNvPr id="304" name="Google Shape;304;p3"/>
          <p:cNvSpPr txBox="1">
            <a:spLocks noGrp="1"/>
          </p:cNvSpPr>
          <p:nvPr>
            <p:ph type="body" idx="1"/>
          </p:nvPr>
        </p:nvSpPr>
        <p:spPr>
          <a:xfrm>
            <a:off x="1451575" y="2015726"/>
            <a:ext cx="9603300" cy="29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Java is a</a:t>
            </a:r>
            <a:r>
              <a:rPr lang="en-US" b="1" dirty="0"/>
              <a:t> </a:t>
            </a:r>
            <a:r>
              <a:rPr lang="en-US" dirty="0"/>
              <a:t>programming language and a platform. Java is a high level, robust, object-oriented and secure programming language.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Char char="●"/>
            </a:pPr>
            <a:r>
              <a:rPr lang="en-US" dirty="0"/>
              <a:t>Java was developed by </a:t>
            </a:r>
            <a:r>
              <a:rPr lang="en-US" i="1" dirty="0"/>
              <a:t>Sun Microsystems</a:t>
            </a:r>
            <a:r>
              <a:rPr lang="en-US" dirty="0"/>
              <a:t> (which is now the subsidiary of Oracle) in the year 1995. </a:t>
            </a:r>
            <a:r>
              <a:rPr lang="en-US" b="1" i="1" dirty="0"/>
              <a:t>James Gosling</a:t>
            </a:r>
            <a:r>
              <a:rPr lang="en-US" dirty="0"/>
              <a:t> is known as the father of 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9781-82DD-EE27-89B3-BCC92B49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Java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0C24B-5DB1-A6D6-99C0-BB5F31A40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to learn.</a:t>
            </a:r>
          </a:p>
          <a:p>
            <a:r>
              <a:rPr lang="en-US" dirty="0"/>
              <a:t>Huge community in testing</a:t>
            </a:r>
          </a:p>
          <a:p>
            <a:r>
              <a:rPr lang="en-US" dirty="0"/>
              <a:t>OOP concepts</a:t>
            </a:r>
          </a:p>
          <a:p>
            <a:r>
              <a:rPr lang="en-US" dirty="0"/>
              <a:t>Learning selenium.</a:t>
            </a:r>
          </a:p>
        </p:txBody>
      </p:sp>
    </p:spTree>
    <p:extLst>
      <p:ext uri="{BB962C8B-B14F-4D97-AF65-F5344CB8AC3E}">
        <p14:creationId xmlns:p14="http://schemas.microsoft.com/office/powerpoint/2010/main" val="259324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3a1b49fa7d_0_2003"/>
          <p:cNvSpPr txBox="1">
            <a:spLocks noGrp="1"/>
          </p:cNvSpPr>
          <p:nvPr>
            <p:ph type="title"/>
          </p:nvPr>
        </p:nvSpPr>
        <p:spPr>
          <a:xfrm>
            <a:off x="1451575" y="804525"/>
            <a:ext cx="9612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SETUP JDK AND INSTALL INTELLIJ IDEA</a:t>
            </a:r>
            <a:endParaRPr dirty="0"/>
          </a:p>
        </p:txBody>
      </p:sp>
      <p:sp>
        <p:nvSpPr>
          <p:cNvPr id="310" name="Google Shape;310;g13a1b49fa7d_0_2003"/>
          <p:cNvSpPr txBox="1"/>
          <p:nvPr/>
        </p:nvSpPr>
        <p:spPr>
          <a:xfrm>
            <a:off x="1885360" y="2356700"/>
            <a:ext cx="350959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JDK 17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IntelIJ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Community Edition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FIRST PROGRAM</a:t>
            </a:r>
            <a:endParaRPr/>
          </a:p>
        </p:txBody>
      </p:sp>
      <p:sp>
        <p:nvSpPr>
          <p:cNvPr id="316" name="Google Shape;316;p4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“Hello Java!"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JetBrains Mono"/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String </a:t>
            </a:r>
            <a:r>
              <a:rPr lang="en-US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MyString</a:t>
            </a:r>
            <a:r>
              <a:rPr lang="en-US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=“Hello Java”;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dirty="0" err="1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MyString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r>
              <a:rPr lang="en-US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	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JetBrains Mono"/>
              <a:buNone/>
            </a:pPr>
            <a:endParaRPr lang="en-US" dirty="0">
              <a:solidFill>
                <a:srgbClr val="080808"/>
              </a:solidFill>
              <a:latin typeface="JetBrains Mono"/>
              <a:ea typeface="Arial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JetBrains Mono"/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 * Explanation of main method overall structure in java.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20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 * To increase font site : Go to settings -&gt; search “font” -&gt; 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goto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 “font” section -&gt; Increase the size -&gt; Apply -&gt; Ok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71528D-2E07-5CC5-FC42-0F786D058187}"/>
              </a:ext>
            </a:extLst>
          </p:cNvPr>
          <p:cNvSpPr txBox="1"/>
          <p:nvPr/>
        </p:nvSpPr>
        <p:spPr>
          <a:xfrm>
            <a:off x="1300216" y="4804192"/>
            <a:ext cx="990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* Always Create a new file inside the main folder , for normal java coding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JAVA VARIABLES</a:t>
            </a:r>
            <a:endParaRPr/>
          </a:p>
        </p:txBody>
      </p:sp>
      <p:sp>
        <p:nvSpPr>
          <p:cNvPr id="322" name="Google Shape;322;p5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 dirty="0"/>
              <a:t>Local Variables - local variables used only in a local scope [Like inside loop , method]</a:t>
            </a:r>
            <a:endParaRPr dirty="0"/>
          </a:p>
          <a:p>
            <a:pPr marL="514350" lvl="0" indent="-5143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Gill Sans"/>
              <a:buAutoNum type="arabicPeriod"/>
            </a:pPr>
            <a:r>
              <a:rPr lang="en-US" dirty="0"/>
              <a:t>Instance Variables - Instance variable can only be accessed by Object of the class</a:t>
            </a:r>
            <a:endParaRPr dirty="0"/>
          </a:p>
          <a:p>
            <a:pPr marL="514350" lvl="0" indent="-51435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Font typeface="Gill Sans"/>
              <a:buAutoNum type="arabicPeriod"/>
            </a:pPr>
            <a:r>
              <a:rPr lang="en-US" dirty="0"/>
              <a:t>Static Variables - shared by all instances of the class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"/>
          <p:cNvSpPr/>
          <p:nvPr/>
        </p:nvSpPr>
        <p:spPr>
          <a:xfrm>
            <a:off x="842550" y="1997859"/>
            <a:ext cx="10506900" cy="28622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000"/>
              <a:buFont typeface="JetBrains Mono"/>
              <a:buNone/>
            </a:pP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package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basic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class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JavaVariables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200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purchase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brand,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model) 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name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2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"Mr. Zahid"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//local variable</a:t>
            </a:r>
            <a:b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2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2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12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wants to buy a "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brand + </a:t>
            </a:r>
            <a:r>
              <a:rPr lang="en-US" sz="12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"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model + </a:t>
            </a:r>
            <a:r>
              <a:rPr lang="en-US" sz="12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car"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Car 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//instance variable</a:t>
            </a:r>
            <a:b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brand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200" b="0" i="0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static </a:t>
            </a:r>
            <a:r>
              <a:rPr lang="en-US" sz="12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200" b="0" i="1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wheel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200" b="0" i="0" u="none" strike="noStrike" cap="none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</a:t>
            </a:r>
            <a: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//static variable</a:t>
            </a:r>
            <a:br>
              <a:rPr lang="en-US" sz="1200" b="0" i="1" u="none" strike="noStrike" cap="none" dirty="0">
                <a:solidFill>
                  <a:srgbClr val="8C8C8C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2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VARIABLE NAMING CONVENTION</a:t>
            </a:r>
            <a:endParaRPr/>
          </a:p>
        </p:txBody>
      </p:sp>
      <p:sp>
        <p:nvSpPr>
          <p:cNvPr id="333" name="Google Shape;333;p7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2"/>
              <a:buFont typeface="Arial"/>
              <a:buChar char="•"/>
            </a:pPr>
            <a:r>
              <a:rPr lang="en-US" dirty="0"/>
              <a:t>A variable name can consist of Capital letters A-Z, lowercase letters a-z, digits 0-9, and two special characters such as underscore and dollar Sign.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162"/>
              <a:buFont typeface="Arial"/>
              <a:buChar char="•"/>
            </a:pPr>
            <a:r>
              <a:rPr lang="en-US" dirty="0"/>
              <a:t>The first character must be a letter.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162"/>
              <a:buFont typeface="Arial"/>
              <a:buChar char="•"/>
            </a:pPr>
            <a:r>
              <a:rPr lang="en-US" dirty="0"/>
              <a:t>Blank spaces cannot be used in variable names.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162"/>
              <a:buFont typeface="Arial"/>
              <a:buChar char="•"/>
            </a:pPr>
            <a:r>
              <a:rPr lang="en-US" dirty="0"/>
              <a:t>Java keywords cannot be used as variable names.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162"/>
              <a:buFont typeface="Arial"/>
              <a:buChar char="•"/>
            </a:pPr>
            <a:r>
              <a:rPr lang="en-US" dirty="0"/>
              <a:t>Variable names are case-sensitive.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ESCAPE SEQUENCE</a:t>
            </a:r>
            <a:endParaRPr/>
          </a:p>
        </p:txBody>
      </p:sp>
      <p:graphicFrame>
        <p:nvGraphicFramePr>
          <p:cNvPr id="339" name="Google Shape;339;p8"/>
          <p:cNvGraphicFramePr/>
          <p:nvPr/>
        </p:nvGraphicFramePr>
        <p:xfrm>
          <a:off x="1451578" y="2016127"/>
          <a:ext cx="8051800" cy="2052175"/>
        </p:xfrm>
        <a:graphic>
          <a:graphicData uri="http://schemas.openxmlformats.org/drawingml/2006/table">
            <a:tbl>
              <a:tblPr>
                <a:noFill/>
                <a:tableStyleId>{8DD41BF7-7EB9-41E8-8038-6210645F4EC0}</a:tableStyleId>
              </a:tblPr>
              <a:tblGrid>
                <a:gridCol w="402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Escape Sequence</a:t>
                      </a:r>
                      <a:endParaRPr sz="1400" u="none" strike="noStrike" cap="none"/>
                    </a:p>
                  </a:txBody>
                  <a:tcPr marL="76650" marR="76650" marT="38325" marB="383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Description</a:t>
                      </a:r>
                      <a:endParaRPr sz="1400" u="none" strike="noStrike" cap="none"/>
                    </a:p>
                  </a:txBody>
                  <a:tcPr marL="76650" marR="76650" marT="38325" marB="383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\t</a:t>
                      </a:r>
                      <a:endParaRPr sz="1400" u="none" strike="noStrike" cap="none"/>
                    </a:p>
                  </a:txBody>
                  <a:tcPr marL="76650" marR="76650" marT="38325" marB="383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Inserts a tab in the text at this point.</a:t>
                      </a:r>
                      <a:endParaRPr sz="1400" u="none" strike="noStrike" cap="none"/>
                    </a:p>
                  </a:txBody>
                  <a:tcPr marL="76650" marR="76650" marT="38325" marB="38325" anchor="ctr">
                    <a:lnL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\n</a:t>
                      </a:r>
                      <a:endParaRPr sz="1400" u="none" strike="noStrike" cap="none"/>
                    </a:p>
                  </a:txBody>
                  <a:tcPr marL="76650" marR="76650" marT="38325" marB="383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Inserts a newline in the text at this point.</a:t>
                      </a:r>
                      <a:endParaRPr sz="1400" u="none" strike="noStrike" cap="none"/>
                    </a:p>
                  </a:txBody>
                  <a:tcPr marL="76650" marR="76650" marT="38325" marB="38325" anchor="ctr">
                    <a:lnL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\"</a:t>
                      </a:r>
                      <a:endParaRPr sz="1400" u="none" strike="noStrike" cap="none" dirty="0"/>
                    </a:p>
                  </a:txBody>
                  <a:tcPr marL="76650" marR="76650" marT="38325" marB="383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Inserts a double quote character in the text at this point.</a:t>
                      </a:r>
                      <a:endParaRPr sz="1400" u="none" strike="noStrike" cap="none"/>
                    </a:p>
                  </a:txBody>
                  <a:tcPr marL="76650" marR="76650" marT="38325" marB="38325" anchor="ctr">
                    <a:lnL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\\</a:t>
                      </a:r>
                      <a:endParaRPr sz="1400" u="none" strike="noStrike" cap="none" dirty="0"/>
                    </a:p>
                  </a:txBody>
                  <a:tcPr marL="76650" marR="76650" marT="38325" marB="38325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Inserts a backslash character in the text at this point.</a:t>
                      </a:r>
                      <a:endParaRPr sz="1400" u="none" strike="noStrike" cap="none" dirty="0"/>
                    </a:p>
                  </a:txBody>
                  <a:tcPr marL="76650" marR="76650" marT="38325" marB="38325" anchor="ctr">
                    <a:lnL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8080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345" name="Google Shape;345;p9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Primitive Data Types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Char char="●"/>
            </a:pPr>
            <a:r>
              <a:rPr lang="en-US" dirty="0"/>
              <a:t>Non-Primitive Data Types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3a1b49fa7d_0_196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PRIMITIVE DATA TYPES</a:t>
            </a:r>
            <a:endParaRPr/>
          </a:p>
        </p:txBody>
      </p:sp>
      <p:graphicFrame>
        <p:nvGraphicFramePr>
          <p:cNvPr id="351" name="Google Shape;351;g13a1b49fa7d_0_1965"/>
          <p:cNvGraphicFramePr/>
          <p:nvPr>
            <p:extLst>
              <p:ext uri="{D42A27DB-BD31-4B8C-83A1-F6EECF244321}">
                <p14:modId xmlns:p14="http://schemas.microsoft.com/office/powerpoint/2010/main" val="3002622889"/>
              </p:ext>
            </p:extLst>
          </p:nvPr>
        </p:nvGraphicFramePr>
        <p:xfrm>
          <a:off x="1109725" y="2127184"/>
          <a:ext cx="10287000" cy="4558154"/>
        </p:xfrm>
        <a:graphic>
          <a:graphicData uri="http://schemas.openxmlformats.org/drawingml/2006/table">
            <a:tbl>
              <a:tblPr>
                <a:noFill/>
                <a:tableStyleId>{09524A87-5137-4B77-BF30-43D4C53502DE}</a:tableStyleId>
              </a:tblPr>
              <a:tblGrid>
                <a:gridCol w="18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5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 type</a:t>
                      </a:r>
                      <a:endParaRPr sz="1600" b="1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Size</a:t>
                      </a:r>
                      <a:endParaRPr sz="1600" b="1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Description</a:t>
                      </a:r>
                      <a:endParaRPr sz="1600" b="1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5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whole numbers from -128 to 127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5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short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whole numbers from -32,768 to 32,767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5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whole numbers from -2,147,483,648 to 2,147,483,647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1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long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 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whole numbers from -9,223,372,036,854,775,808 to 9,223,372,036,854,775,807. (Add </a:t>
                      </a:r>
                      <a:r>
                        <a:rPr lang="en-US" sz="1600" b="1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at the end. Exp 213321212</a:t>
                      </a:r>
                      <a:r>
                        <a:rPr lang="en-US" sz="1600" b="1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91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float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fractional numbers. Sufficient for storing 6 to 7 decimal digits. (Add f at the end. Exp 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23.23422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 </a:t>
                      </a: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5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double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 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fractional numbers. Sufficient for storing 15 decimal digits</a:t>
                      </a:r>
                      <a:endParaRPr sz="16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5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 err="1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boolean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byte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true or false values</a:t>
                      </a:r>
                      <a:endParaRPr sz="16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5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char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byte</a:t>
                      </a:r>
                      <a:endParaRPr sz="160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Stores a single character/letter or ASCII values</a:t>
                      </a:r>
                      <a:endParaRPr sz="1600" u="none" strike="noStrike" cap="none" dirty="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NON-PRIMITIVE DATA TYPES</a:t>
            </a:r>
            <a:endParaRPr/>
          </a:p>
        </p:txBody>
      </p:sp>
      <p:sp>
        <p:nvSpPr>
          <p:cNvPr id="357" name="Google Shape;357;p12"/>
          <p:cNvSpPr txBox="1">
            <a:spLocks noGrp="1"/>
          </p:cNvSpPr>
          <p:nvPr>
            <p:ph type="body" idx="1"/>
          </p:nvPr>
        </p:nvSpPr>
        <p:spPr>
          <a:xfrm>
            <a:off x="1451575" y="1853750"/>
            <a:ext cx="9603300" cy="3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Class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Object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Array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String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Char char="●"/>
            </a:pPr>
            <a:r>
              <a:rPr lang="en-US" dirty="0"/>
              <a:t>Interface</a:t>
            </a:r>
            <a:endParaRPr dirty="0"/>
          </a:p>
        </p:txBody>
      </p:sp>
      <p:sp>
        <p:nvSpPr>
          <p:cNvPr id="358" name="Google Shape;358;p12"/>
          <p:cNvSpPr txBox="1"/>
          <p:nvPr/>
        </p:nvSpPr>
        <p:spPr>
          <a:xfrm>
            <a:off x="1380931" y="1853754"/>
            <a:ext cx="610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There are 5 types of non-primitive data types: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3a1b49fa7d_0_2014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TYPE CASTING</a:t>
            </a:r>
            <a:endParaRPr dirty="0"/>
          </a:p>
        </p:txBody>
      </p:sp>
      <p:sp>
        <p:nvSpPr>
          <p:cNvPr id="364" name="Google Shape;364;g13a1b49fa7d_0_2014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Widening casting: [ long a = 12]</a:t>
            </a:r>
            <a:endParaRPr b="1" dirty="0"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byte -&gt; short -&gt; char -&gt; int -&gt; long -&gt; float -&gt; double </a:t>
            </a:r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highlight>
                  <a:srgbClr val="00FF00"/>
                </a:highlight>
              </a:rPr>
              <a:t>Example</a:t>
            </a:r>
            <a:r>
              <a:rPr lang="en-US" b="1" dirty="0"/>
              <a:t> </a:t>
            </a:r>
            <a:r>
              <a:rPr lang="en-US" dirty="0"/>
              <a:t>: int a = 10; double d = a;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/>
              <a:t>Narrowing casting:</a:t>
            </a:r>
            <a:endParaRPr b="1" dirty="0"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double -&gt; float -&gt; long -&gt; int -&gt; char -&gt; short -&gt; byte </a:t>
            </a:r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highlight>
                  <a:srgbClr val="00FF00"/>
                </a:highlight>
              </a:rPr>
              <a:t>Example</a:t>
            </a:r>
            <a:r>
              <a:rPr lang="en-US" b="1" dirty="0"/>
              <a:t>:  </a:t>
            </a:r>
            <a:r>
              <a:rPr lang="en-US" dirty="0"/>
              <a:t>double d = 10.5 ; int a = d;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EF9A-1ED2-B06A-3A27-AEFFF489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491252"/>
            <a:ext cx="9603300" cy="1049100"/>
          </a:xfrm>
        </p:spPr>
        <p:txBody>
          <a:bodyPr/>
          <a:lstStyle/>
          <a:p>
            <a:r>
              <a:rPr lang="en-US" dirty="0"/>
              <a:t>Parsing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74CD0-B6FC-7250-3496-17EAF636C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1579" y="1888731"/>
            <a:ext cx="9603300" cy="3809335"/>
          </a:xfrm>
        </p:spPr>
        <p:txBody>
          <a:bodyPr>
            <a:normAutofit/>
          </a:bodyPr>
          <a:lstStyle/>
          <a:p>
            <a:r>
              <a:rPr lang="en-US" dirty="0"/>
              <a:t>Converting into completely different data type. Specially used for string. This can only be done when your string contains only digits.</a:t>
            </a:r>
          </a:p>
          <a:p>
            <a:pPr marL="114300" indent="0">
              <a:buNone/>
            </a:pPr>
            <a:r>
              <a:rPr lang="en-US" dirty="0"/>
              <a:t>   Example :</a:t>
            </a:r>
          </a:p>
          <a:p>
            <a:pPr marL="114300" indent="0">
              <a:buNone/>
            </a:pPr>
            <a:r>
              <a:rPr lang="en-US" sz="1600" dirty="0"/>
              <a:t>  * String a = "100";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</a:t>
            </a:r>
            <a:r>
              <a:rPr lang="en-US" sz="1600" dirty="0">
                <a:solidFill>
                  <a:schemeClr val="bg1"/>
                </a:solidFill>
                <a:highlight>
                  <a:srgbClr val="FF0000"/>
                </a:highlight>
              </a:rPr>
              <a:t>int b = a;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   int b = </a:t>
            </a:r>
            <a:r>
              <a:rPr lang="en-US" sz="1600" dirty="0" err="1">
                <a:solidFill>
                  <a:schemeClr val="bg2"/>
                </a:solidFill>
              </a:rPr>
              <a:t>Integer.parseInt</a:t>
            </a:r>
            <a:r>
              <a:rPr lang="en-US" sz="1600" dirty="0">
                <a:solidFill>
                  <a:schemeClr val="bg2"/>
                </a:solidFill>
              </a:rPr>
              <a:t>(a);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   </a:t>
            </a:r>
            <a:r>
              <a:rPr lang="en-US" sz="1600" dirty="0" err="1">
                <a:solidFill>
                  <a:schemeClr val="bg2"/>
                </a:solidFill>
              </a:rPr>
              <a:t>System.out.println</a:t>
            </a:r>
            <a:r>
              <a:rPr lang="en-US" sz="1600" dirty="0">
                <a:solidFill>
                  <a:schemeClr val="bg2"/>
                </a:solidFill>
              </a:rPr>
              <a:t>(b);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 * String a = "100.63";</a:t>
            </a:r>
          </a:p>
          <a:p>
            <a:pPr marL="11430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  double b = </a:t>
            </a:r>
            <a:r>
              <a:rPr lang="en-US" sz="1600" dirty="0" err="1">
                <a:solidFill>
                  <a:schemeClr val="bg2"/>
                </a:solidFill>
              </a:rPr>
              <a:t>Double.parseDouble</a:t>
            </a:r>
            <a:r>
              <a:rPr lang="en-US" sz="1600" dirty="0">
                <a:solidFill>
                  <a:schemeClr val="bg2"/>
                </a:solidFill>
              </a:rPr>
              <a:t>(a);</a:t>
            </a:r>
          </a:p>
          <a:p>
            <a:pPr marL="114300" indent="0"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66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BB52-080C-2947-96E2-505D1953D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int to String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C183F-EB00-DB2E-45A6-EFA9E27D7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int a = 10;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bg1"/>
                </a:solidFill>
              </a:rPr>
              <a:t>       </a:t>
            </a:r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String b = a;</a:t>
            </a:r>
          </a:p>
          <a:p>
            <a:pPr marL="114300" indent="0">
              <a:buNone/>
            </a:pPr>
            <a:r>
              <a:rPr lang="en-US" dirty="0"/>
              <a:t>       String b = </a:t>
            </a:r>
            <a:r>
              <a:rPr lang="en-US" dirty="0" err="1"/>
              <a:t>String.valueOf</a:t>
            </a:r>
            <a:r>
              <a:rPr lang="en-US" dirty="0"/>
              <a:t>(a);</a:t>
            </a:r>
          </a:p>
        </p:txBody>
      </p:sp>
    </p:spTree>
    <p:extLst>
      <p:ext uri="{BB962C8B-B14F-4D97-AF65-F5344CB8AC3E}">
        <p14:creationId xmlns:p14="http://schemas.microsoft.com/office/powerpoint/2010/main" val="2412495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OPERATORS</a:t>
            </a:r>
            <a:endParaRPr/>
          </a:p>
        </p:txBody>
      </p:sp>
      <p:sp>
        <p:nvSpPr>
          <p:cNvPr id="370" name="Google Shape;370;p13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dirty="0"/>
              <a:t>Arithmetic operators (+, -, *, /, %, ++, --)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dirty="0"/>
              <a:t>Assignment operators (=, +=, -=, *=, /=)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dirty="0"/>
              <a:t>Comparison operators (==,&gt;,&lt;,&gt;=,&lt;=,!=)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dirty="0"/>
              <a:t>Logical operators (&amp;&amp;, ||, !)</a:t>
            </a:r>
            <a:endParaRPr dirty="0"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Font typeface="Arial"/>
              <a:buChar char="•"/>
            </a:pPr>
            <a:r>
              <a:rPr lang="en-US" dirty="0"/>
              <a:t>Bitwise operators(&lt;&lt;, &gt;&gt;)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MATH FUNCTIONS</a:t>
            </a:r>
            <a:endParaRPr/>
          </a:p>
        </p:txBody>
      </p:sp>
      <p:sp>
        <p:nvSpPr>
          <p:cNvPr id="376" name="Google Shape;376;p14"/>
          <p:cNvSpPr txBox="1">
            <a:spLocks noGrp="1"/>
          </p:cNvSpPr>
          <p:nvPr>
            <p:ph type="body" idx="1"/>
          </p:nvPr>
        </p:nvSpPr>
        <p:spPr>
          <a:xfrm>
            <a:off x="1451575" y="2015724"/>
            <a:ext cx="9603300" cy="3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0" lvl="0" indent="-227992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Math.max</a:t>
            </a:r>
            <a:r>
              <a:rPr lang="en-US" sz="7350" dirty="0"/>
              <a:t>(</a:t>
            </a:r>
            <a:r>
              <a:rPr lang="en-US" sz="7350" i="1" dirty="0"/>
              <a:t>val1,val2</a:t>
            </a:r>
            <a:r>
              <a:rPr lang="en-US" sz="7350" dirty="0"/>
              <a:t>)</a:t>
            </a:r>
            <a:endParaRPr sz="7350" dirty="0"/>
          </a:p>
          <a:p>
            <a:pPr marL="228600" lvl="0" indent="-2279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Math.min</a:t>
            </a:r>
            <a:r>
              <a:rPr lang="en-US" sz="7350" dirty="0"/>
              <a:t>(</a:t>
            </a:r>
            <a:r>
              <a:rPr lang="en-US" sz="7350" i="1" dirty="0"/>
              <a:t>val1,val2</a:t>
            </a:r>
            <a:r>
              <a:rPr lang="en-US" sz="7350" dirty="0"/>
              <a:t>)</a:t>
            </a:r>
            <a:endParaRPr sz="7350" dirty="0"/>
          </a:p>
          <a:p>
            <a:pPr marL="228600" lvl="0" indent="-2279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Math.sqrt</a:t>
            </a:r>
            <a:r>
              <a:rPr lang="en-US" sz="7350" dirty="0"/>
              <a:t>(</a:t>
            </a:r>
            <a:r>
              <a:rPr lang="en-US" sz="7350" i="1" dirty="0" err="1"/>
              <a:t>val</a:t>
            </a:r>
            <a:r>
              <a:rPr lang="en-US" sz="7350" dirty="0"/>
              <a:t>)</a:t>
            </a:r>
            <a:endParaRPr sz="7350" dirty="0"/>
          </a:p>
          <a:p>
            <a:pPr marL="228600" lvl="0" indent="-2279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Math.pow</a:t>
            </a:r>
            <a:r>
              <a:rPr lang="en-US" sz="7350" dirty="0"/>
              <a:t>(</a:t>
            </a:r>
            <a:r>
              <a:rPr lang="en-US" sz="7350" dirty="0" err="1"/>
              <a:t>val,power</a:t>
            </a:r>
            <a:r>
              <a:rPr lang="en-US" sz="7350" dirty="0"/>
              <a:t>)</a:t>
            </a:r>
            <a:endParaRPr sz="7350" dirty="0"/>
          </a:p>
          <a:p>
            <a:pPr marL="228600" lvl="0" indent="-2279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Math.abs</a:t>
            </a:r>
            <a:r>
              <a:rPr lang="en-US" sz="7350" dirty="0"/>
              <a:t>(</a:t>
            </a:r>
            <a:r>
              <a:rPr lang="en-US" sz="7350" i="1" dirty="0"/>
              <a:t>x</a:t>
            </a:r>
            <a:r>
              <a:rPr lang="en-US" sz="7350" dirty="0"/>
              <a:t>)</a:t>
            </a:r>
            <a:endParaRPr sz="7350" dirty="0"/>
          </a:p>
          <a:p>
            <a:pPr marL="228600" lvl="0" indent="-2279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Math.random</a:t>
            </a:r>
            <a:r>
              <a:rPr lang="en-US" sz="7350" dirty="0"/>
              <a:t>() [Returns value between 0 to 1]</a:t>
            </a:r>
            <a:endParaRPr sz="7350" dirty="0"/>
          </a:p>
          <a:p>
            <a:pPr marL="228600" lvl="0" indent="-2279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Math.round</a:t>
            </a:r>
            <a:r>
              <a:rPr lang="en-US" sz="7350" dirty="0"/>
              <a:t>()</a:t>
            </a:r>
            <a:endParaRPr sz="7350" dirty="0"/>
          </a:p>
          <a:p>
            <a:pPr marL="228600" lvl="0" indent="-227992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Math.ceil</a:t>
            </a:r>
            <a:r>
              <a:rPr lang="en-US" sz="7350" dirty="0"/>
              <a:t>()</a:t>
            </a:r>
            <a:endParaRPr sz="7350" dirty="0"/>
          </a:p>
          <a:p>
            <a:pPr marL="228600" lvl="0" indent="-22863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7350" dirty="0" err="1"/>
              <a:t>Math.floor</a:t>
            </a:r>
            <a:r>
              <a:rPr lang="en-US" sz="7350" dirty="0"/>
              <a:t>()</a:t>
            </a:r>
            <a:endParaRPr sz="7350" dirty="0"/>
          </a:p>
          <a:p>
            <a:pPr marL="228600" lvl="0" indent="-1111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6"/>
              <a:buNone/>
            </a:pPr>
            <a:endParaRPr b="1" dirty="0"/>
          </a:p>
          <a:p>
            <a:pPr marL="228600" lvl="0" indent="-111125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ct val="117646"/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GENERATE RANDOM NUMBER</a:t>
            </a:r>
            <a:endParaRPr/>
          </a:p>
        </p:txBody>
      </p:sp>
      <p:sp>
        <p:nvSpPr>
          <p:cNvPr id="382" name="Google Shape;382;p15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4156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dirty="0"/>
              <a:t>min + </a:t>
            </a:r>
            <a:r>
              <a:rPr lang="en-US" dirty="0" err="1"/>
              <a:t>Math.random</a:t>
            </a:r>
            <a:r>
              <a:rPr lang="en-US" dirty="0"/>
              <a:t>()*(max-min)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b="1" dirty="0"/>
              <a:t>   Example: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    int </a:t>
            </a:r>
            <a:r>
              <a:rPr lang="en-US" dirty="0" err="1"/>
              <a:t>maxRange</a:t>
            </a:r>
            <a:r>
              <a:rPr lang="en-US" dirty="0"/>
              <a:t> , </a:t>
            </a:r>
            <a:r>
              <a:rPr lang="en-US" dirty="0" err="1"/>
              <a:t>minRange</a:t>
            </a:r>
            <a:r>
              <a:rPr lang="en-US" dirty="0"/>
              <a:t>;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    </a:t>
            </a:r>
            <a:r>
              <a:rPr lang="en-US" dirty="0" err="1"/>
              <a:t>minRange</a:t>
            </a:r>
            <a:r>
              <a:rPr lang="en-US" dirty="0"/>
              <a:t> = 10;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    </a:t>
            </a:r>
            <a:r>
              <a:rPr lang="en-US" dirty="0" err="1"/>
              <a:t>maxRange</a:t>
            </a:r>
            <a:r>
              <a:rPr lang="en-US" dirty="0"/>
              <a:t> = 1000;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    double a = </a:t>
            </a:r>
            <a:r>
              <a:rPr lang="en-US" dirty="0" err="1"/>
              <a:t>Math.random</a:t>
            </a:r>
            <a:r>
              <a:rPr lang="en-US" dirty="0"/>
              <a:t>();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    int </a:t>
            </a:r>
            <a:r>
              <a:rPr lang="en-US" dirty="0" err="1"/>
              <a:t>randomNumber</a:t>
            </a:r>
            <a:r>
              <a:rPr lang="en-US" dirty="0"/>
              <a:t> = (int) (min + a * (</a:t>
            </a:r>
            <a:r>
              <a:rPr lang="en-US" dirty="0" err="1"/>
              <a:t>maxRange</a:t>
            </a:r>
            <a:r>
              <a:rPr lang="en-US" dirty="0"/>
              <a:t> - </a:t>
            </a:r>
            <a:r>
              <a:rPr lang="en-US" dirty="0" err="1"/>
              <a:t>minRange</a:t>
            </a:r>
            <a:r>
              <a:rPr lang="en-US" dirty="0"/>
              <a:t>) );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randomNumber</a:t>
            </a:r>
            <a:r>
              <a:rPr lang="en-US" dirty="0"/>
              <a:t>);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To organize your syntax look: </a:t>
            </a:r>
            <a:r>
              <a:rPr lang="en-US" b="1" dirty="0"/>
              <a:t>ctrl + alt + l</a:t>
            </a:r>
            <a:endParaRPr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9204-293B-62EB-EAB3-82D53C76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Generate </a:t>
            </a:r>
            <a:r>
              <a:rPr lang="en-US" sz="3200" dirty="0" err="1"/>
              <a:t>Rabdom</a:t>
            </a:r>
            <a:r>
              <a:rPr lang="en-US" sz="3200" dirty="0"/>
              <a:t> Phone Number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0C895-2BCA-F002-ABC4-0AF476C82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1579" y="2015731"/>
            <a:ext cx="9603300" cy="397020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     int </a:t>
            </a:r>
            <a:r>
              <a:rPr lang="en-US" dirty="0" err="1"/>
              <a:t>maxRange</a:t>
            </a:r>
            <a:r>
              <a:rPr lang="en-US" dirty="0"/>
              <a:t>, </a:t>
            </a:r>
            <a:r>
              <a:rPr lang="en-US" dirty="0" err="1"/>
              <a:t>minRange</a:t>
            </a:r>
            <a:r>
              <a:rPr lang="en-US" dirty="0"/>
              <a:t>;</a:t>
            </a:r>
          </a:p>
          <a:p>
            <a:pPr marL="114300" indent="0">
              <a:buNone/>
            </a:pPr>
            <a:r>
              <a:rPr lang="en-US" dirty="0"/>
              <a:t>      </a:t>
            </a:r>
            <a:r>
              <a:rPr lang="en-US" dirty="0" err="1"/>
              <a:t>minRange</a:t>
            </a:r>
            <a:r>
              <a:rPr lang="en-US" dirty="0"/>
              <a:t> = 10000000;</a:t>
            </a:r>
          </a:p>
          <a:p>
            <a:pPr marL="114300" indent="0">
              <a:buNone/>
            </a:pPr>
            <a:r>
              <a:rPr lang="en-US" dirty="0"/>
              <a:t>       </a:t>
            </a:r>
            <a:r>
              <a:rPr lang="en-US" dirty="0" err="1"/>
              <a:t>maxRange</a:t>
            </a:r>
            <a:r>
              <a:rPr lang="en-US" dirty="0"/>
              <a:t> = 99999999;</a:t>
            </a:r>
          </a:p>
          <a:p>
            <a:pPr marL="114300" indent="0">
              <a:buNone/>
            </a:pPr>
            <a:r>
              <a:rPr lang="en-US" dirty="0"/>
              <a:t>        double a = </a:t>
            </a:r>
            <a:r>
              <a:rPr lang="en-US" dirty="0" err="1"/>
              <a:t>Math.random</a:t>
            </a:r>
            <a:r>
              <a:rPr lang="en-US" dirty="0"/>
              <a:t>();</a:t>
            </a:r>
          </a:p>
          <a:p>
            <a:pPr marL="114300" indent="0">
              <a:buNone/>
            </a:pPr>
            <a:r>
              <a:rPr lang="en-US" dirty="0"/>
              <a:t>        int </a:t>
            </a:r>
            <a:r>
              <a:rPr lang="en-US" dirty="0" err="1"/>
              <a:t>randomNumber</a:t>
            </a:r>
            <a:r>
              <a:rPr lang="en-US" dirty="0"/>
              <a:t> = (int) (</a:t>
            </a:r>
            <a:r>
              <a:rPr lang="en-US" dirty="0" err="1"/>
              <a:t>minRange</a:t>
            </a:r>
            <a:r>
              <a:rPr lang="en-US" dirty="0"/>
              <a:t> + a * (</a:t>
            </a:r>
            <a:r>
              <a:rPr lang="en-US" dirty="0" err="1"/>
              <a:t>maxRange</a:t>
            </a:r>
            <a:r>
              <a:rPr lang="en-US" dirty="0"/>
              <a:t> - </a:t>
            </a:r>
            <a:r>
              <a:rPr lang="en-US" dirty="0" err="1"/>
              <a:t>minRange</a:t>
            </a:r>
            <a:r>
              <a:rPr lang="en-US" dirty="0"/>
              <a:t>));</a:t>
            </a:r>
          </a:p>
          <a:p>
            <a:pPr marL="114300" indent="0">
              <a:buNone/>
            </a:pPr>
            <a:r>
              <a:rPr lang="en-US" dirty="0"/>
              <a:t>        //String </a:t>
            </a:r>
            <a:r>
              <a:rPr lang="en-US" dirty="0" err="1"/>
              <a:t>concatination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    String </a:t>
            </a:r>
            <a:r>
              <a:rPr lang="en-US" dirty="0" err="1"/>
              <a:t>phoneNum</a:t>
            </a:r>
            <a:r>
              <a:rPr lang="en-US" dirty="0"/>
              <a:t> = "017" + </a:t>
            </a:r>
            <a:r>
              <a:rPr lang="en-US" dirty="0" err="1"/>
              <a:t>randomNumber</a:t>
            </a:r>
            <a:r>
              <a:rPr lang="en-US" dirty="0"/>
              <a:t>;</a:t>
            </a:r>
          </a:p>
          <a:p>
            <a:pPr marL="11430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phoneNum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59722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"/>
          <p:cNvSpPr txBox="1">
            <a:spLocks noGrp="1"/>
          </p:cNvSpPr>
          <p:nvPr>
            <p:ph type="title"/>
          </p:nvPr>
        </p:nvSpPr>
        <p:spPr>
          <a:xfrm>
            <a:off x="1451575" y="804525"/>
            <a:ext cx="30489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USER INPUT</a:t>
            </a:r>
            <a:endParaRPr/>
          </a:p>
        </p:txBody>
      </p:sp>
      <p:sp>
        <p:nvSpPr>
          <p:cNvPr id="388" name="Google Shape;388;p16"/>
          <p:cNvSpPr txBox="1">
            <a:spLocks noGrp="1"/>
          </p:cNvSpPr>
          <p:nvPr>
            <p:ph type="body" idx="1"/>
          </p:nvPr>
        </p:nvSpPr>
        <p:spPr>
          <a:xfrm>
            <a:off x="1451575" y="2047714"/>
            <a:ext cx="10362300" cy="3493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b="0" i="0" u="none" strike="noStrike" cap="none" dirty="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[] 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args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{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Scanner input 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Scanner(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b="0" i="1" u="none" strike="noStrike" cap="none" dirty="0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"Enter first number:"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number1 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.nextInt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"Enter second number:"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number2 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.nextInt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number1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number2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"Sum is "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</a:t>
            </a:r>
            <a:r>
              <a:rPr lang="en-US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endParaRPr lang="en-US" dirty="0">
              <a:solidFill>
                <a:srgbClr val="080808"/>
              </a:solidFill>
              <a:latin typeface="JetBrains Mono"/>
              <a:ea typeface="Arial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// double b = 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input.nextDouble</a:t>
            </a:r>
            <a:endParaRPr lang="en-US" b="0" i="0" u="none" strike="noStrike" cap="none" dirty="0">
              <a:solidFill>
                <a:srgbClr val="080808"/>
              </a:solidFill>
              <a:latin typeface="JetBrains Mono"/>
              <a:ea typeface="Arial"/>
              <a:cs typeface="JetBrains Mono"/>
              <a:sym typeface="JetBrains Mon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// String str = </a:t>
            </a:r>
            <a:r>
              <a:rPr lang="en-US" dirty="0" err="1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input.next</a:t>
            </a:r>
            <a:r>
              <a:rPr lang="en-US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();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// String str = </a:t>
            </a:r>
            <a:r>
              <a:rPr lang="en-US" b="0" i="0" u="none" strike="noStrike" cap="none" dirty="0" err="1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input.nextLine</a:t>
            </a:r>
            <a:r>
              <a:rPr lang="en-US" b="0" i="0" u="none" strike="noStrike" cap="none" dirty="0">
                <a:solidFill>
                  <a:srgbClr val="080808"/>
                </a:solidFill>
                <a:latin typeface="JetBrains Mono"/>
                <a:ea typeface="Arial"/>
                <a:cs typeface="JetBrains Mono"/>
                <a:sym typeface="JetBrains Mono"/>
              </a:rPr>
              <a:t>();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EXCEPTION HANDLING</a:t>
            </a:r>
            <a:endParaRPr/>
          </a:p>
        </p:txBody>
      </p:sp>
      <p:sp>
        <p:nvSpPr>
          <p:cNvPr id="394" name="Google Shape;394;p17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try{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}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Catch(exception e){</a:t>
            </a:r>
            <a:br>
              <a:rPr lang="en-US" dirty="0"/>
            </a:br>
            <a:r>
              <a:rPr lang="en-US" dirty="0"/>
              <a:t>}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r>
              <a:rPr lang="en-US" dirty="0"/>
              <a:t>Finally{</a:t>
            </a:r>
            <a:br>
              <a:rPr lang="en-US" dirty="0"/>
            </a:b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g13a1b49fa7d_0_20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9251" y="152400"/>
            <a:ext cx="9913501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A6BF-551A-1878-CA3B-B5E78261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Another example of exception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B9646-D40E-11B5-56F9-B1A1C5847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US" dirty="0"/>
              <a:t>try{</a:t>
            </a:r>
          </a:p>
          <a:p>
            <a:pPr marL="114300" indent="0">
              <a:buNone/>
            </a:pPr>
            <a:r>
              <a:rPr lang="en-US" dirty="0"/>
              <a:t>             double </a:t>
            </a:r>
            <a:r>
              <a:rPr lang="en-US" dirty="0" err="1"/>
              <a:t>ans</a:t>
            </a:r>
            <a:r>
              <a:rPr lang="en-US" dirty="0"/>
              <a:t> = 5/0;</a:t>
            </a:r>
          </a:p>
          <a:p>
            <a:pPr marL="114300" indent="0">
              <a:buNone/>
            </a:pPr>
            <a:r>
              <a:rPr lang="en-US" dirty="0"/>
              <a:t>        }</a:t>
            </a:r>
          </a:p>
          <a:p>
            <a:pPr marL="114300" indent="0">
              <a:buNone/>
            </a:pPr>
            <a:r>
              <a:rPr lang="en-US" dirty="0"/>
              <a:t>        catch(Exception e){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("You can not divide any number by zero.");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 e );</a:t>
            </a:r>
          </a:p>
          <a:p>
            <a:pPr marL="114300" indent="0">
              <a:buNone/>
            </a:pPr>
            <a:r>
              <a:rPr lang="en-US" dirty="0"/>
              <a:t>        }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       finally {</a:t>
            </a:r>
          </a:p>
          <a:p>
            <a:pPr marL="114300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("Please correct your error");</a:t>
            </a:r>
          </a:p>
          <a:p>
            <a:pPr marL="114300" indent="0">
              <a:buNone/>
            </a:pPr>
            <a:r>
              <a:rPr lang="en-US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4293422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ff99e6c51d_0_1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IF ELSE SYNTAX</a:t>
            </a:r>
            <a:endParaRPr/>
          </a:p>
        </p:txBody>
      </p:sp>
      <p:sp>
        <p:nvSpPr>
          <p:cNvPr id="405" name="Google Shape;405;g2ff99e6c51d_0_10"/>
          <p:cNvSpPr txBox="1">
            <a:spLocks noGrp="1"/>
          </p:cNvSpPr>
          <p:nvPr>
            <p:ph type="body" idx="1"/>
          </p:nvPr>
        </p:nvSpPr>
        <p:spPr>
          <a:xfrm>
            <a:off x="1451575" y="2015724"/>
            <a:ext cx="9603300" cy="40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If(condition){</a:t>
            </a:r>
            <a:endParaRPr sz="1800" dirty="0"/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statement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}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Else if(condition){</a:t>
            </a:r>
            <a:endParaRPr sz="1800" dirty="0"/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statement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}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Else{</a:t>
            </a:r>
            <a:endParaRPr sz="1800" dirty="0"/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-US" sz="1800" dirty="0"/>
              <a:t>statement</a:t>
            </a:r>
            <a:endParaRPr sz="1800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1500"/>
              <a:buNone/>
            </a:pPr>
            <a:r>
              <a:rPr lang="en-US" sz="1800" dirty="0"/>
              <a:t>}</a:t>
            </a:r>
            <a:endParaRPr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g2ff99e6c51d_0_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9364" y="2095475"/>
            <a:ext cx="7053250" cy="41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2ff99e6c51d_0_1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IF ELSE EXAMPLE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ff99e6c51d_0_2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SWITCH CASE SYNTAX</a:t>
            </a:r>
            <a:endParaRPr/>
          </a:p>
        </p:txBody>
      </p:sp>
      <p:sp>
        <p:nvSpPr>
          <p:cNvPr id="417" name="Google Shape;417;g2ff99e6c51d_0_20"/>
          <p:cNvSpPr txBox="1">
            <a:spLocks noGrp="1"/>
          </p:cNvSpPr>
          <p:nvPr>
            <p:ph type="body" idx="1"/>
          </p:nvPr>
        </p:nvSpPr>
        <p:spPr>
          <a:xfrm>
            <a:off x="1451575" y="2015725"/>
            <a:ext cx="9603300" cy="40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Switch(expression){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	Case 1: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	Statement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	Break;</a:t>
            </a:r>
            <a:endParaRPr sz="1800" dirty="0"/>
          </a:p>
          <a:p>
            <a:pPr marL="0" lvl="0" indent="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Case 2: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	Statement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	Break;</a:t>
            </a:r>
            <a:endParaRPr sz="1800" dirty="0"/>
          </a:p>
          <a:p>
            <a:pPr marL="0" lvl="0" indent="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default: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	Statement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-US" sz="1800" dirty="0"/>
              <a:t>}</a:t>
            </a:r>
            <a:endParaRPr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55F6-E87D-DA93-510E-F5BAC1A9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08000"/>
            <a:ext cx="9603300" cy="1049100"/>
          </a:xfrm>
        </p:spPr>
        <p:txBody>
          <a:bodyPr/>
          <a:lstStyle/>
          <a:p>
            <a:r>
              <a:rPr lang="en-US" dirty="0"/>
              <a:t>Switch case 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565156-B923-B6B9-38BB-627EDB996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50975" y="1655763"/>
            <a:ext cx="9604375" cy="469423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Scanner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scanner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Scanner(System.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"Enter a number (1-3): 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choice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scanner.nextInt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switch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(choice)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case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"You selected Option 1"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break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case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"You selected Option 2"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break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case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3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"You selected Option 3"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break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default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"Invalid choice!."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 panose="020B0604020202020204" charset="0"/>
                <a:cs typeface="JetBrains Mono" panose="020B0604020202020204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436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f99e6c51d_0_3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CONTINUE</a:t>
            </a:r>
            <a:endParaRPr/>
          </a:p>
        </p:txBody>
      </p:sp>
      <p:sp>
        <p:nvSpPr>
          <p:cNvPr id="429" name="Google Shape;429;g2ff99e6c51d_0_30"/>
          <p:cNvSpPr txBox="1"/>
          <p:nvPr/>
        </p:nvSpPr>
        <p:spPr>
          <a:xfrm>
            <a:off x="1451567" y="2025204"/>
            <a:ext cx="96033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Continue the loop without executing the next lines.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public class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ContinueExample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{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public static void main(String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args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[]){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for (int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= 0;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&lt;= 10;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++)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{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        if (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== 5)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        {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      continue;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   }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        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System.out.println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1800" b="0" i="0" u="none" strike="noStrike" cap="none" dirty="0" err="1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);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}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}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 sz="1800" b="0" i="0" u="none" strike="noStrike" cap="none" dirty="0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f99e6c51d_0_3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BREAK</a:t>
            </a:r>
            <a:endParaRPr/>
          </a:p>
        </p:txBody>
      </p:sp>
      <p:sp>
        <p:nvSpPr>
          <p:cNvPr id="435" name="Google Shape;435;g2ff99e6c51d_0_35"/>
          <p:cNvSpPr txBox="1"/>
          <p:nvPr/>
        </p:nvSpPr>
        <p:spPr>
          <a:xfrm>
            <a:off x="1451572" y="2039500"/>
            <a:ext cx="9603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Brings you out of the loop.</a:t>
            </a:r>
            <a:endParaRPr sz="1800" b="1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public class BreakExample1 {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public static void main(String args[]){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for (int i = 0; i &lt;= 10; i++)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{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        if (i == 5)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        {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      break;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   }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           System.out.println(i);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	}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80808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 sz="1800" b="0" i="0" u="none" strike="noStrike" cap="none">
              <a:solidFill>
                <a:srgbClr val="08080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ff99e6c51d_0_4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CONDITIONAL STATEMENT PRACTICES</a:t>
            </a:r>
            <a:endParaRPr/>
          </a:p>
        </p:txBody>
      </p:sp>
      <p:sp>
        <p:nvSpPr>
          <p:cNvPr id="441" name="Google Shape;441;g2ff99e6c51d_0_40"/>
          <p:cNvSpPr txBox="1">
            <a:spLocks noGrp="1"/>
          </p:cNvSpPr>
          <p:nvPr>
            <p:ph type="body" idx="1"/>
          </p:nvPr>
        </p:nvSpPr>
        <p:spPr>
          <a:xfrm>
            <a:off x="1451575" y="2015725"/>
            <a:ext cx="9603300" cy="42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402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 dirty="0"/>
              <a:t>Write a program to get a number from the user and print whether it is positive or negative.</a:t>
            </a:r>
            <a:endParaRPr sz="1650" dirty="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 dirty="0"/>
              <a:t>Take three numbers from the user and print the greatest number</a:t>
            </a:r>
            <a:endParaRPr sz="1650" dirty="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 dirty="0"/>
              <a:t>Write a program that takes a year from user and print whether that year is a leap year or not</a:t>
            </a:r>
            <a:endParaRPr sz="1650" dirty="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 dirty="0"/>
              <a:t>Write a program to check if inputted letter is small or capital</a:t>
            </a:r>
            <a:endParaRPr sz="1650" dirty="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Gill Sans"/>
              <a:buAutoNum type="arabicPeriod"/>
            </a:pPr>
            <a:r>
              <a:rPr lang="en-US" sz="1650" dirty="0"/>
              <a:t>Write a program to calculate GPA and find grade</a:t>
            </a:r>
            <a:endParaRPr sz="1650" dirty="0"/>
          </a:p>
          <a:p>
            <a:pPr marL="457200" lvl="0" indent="-454025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1650"/>
              <a:buFont typeface="Gill Sans"/>
              <a:buAutoNum type="arabicPeriod"/>
            </a:pPr>
            <a:r>
              <a:rPr lang="en-US" sz="1650" dirty="0"/>
              <a:t>Write a program to check balance and withdraw money from ATM booth using if else or switch case</a:t>
            </a:r>
            <a:endParaRPr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1651</Words>
  <Application>Microsoft Office PowerPoint</Application>
  <PresentationFormat>Widescreen</PresentationFormat>
  <Paragraphs>247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Gill Sans</vt:lpstr>
      <vt:lpstr>Nunito</vt:lpstr>
      <vt:lpstr>Maven Pro</vt:lpstr>
      <vt:lpstr>Arial</vt:lpstr>
      <vt:lpstr>Arial Black</vt:lpstr>
      <vt:lpstr>Open Sans</vt:lpstr>
      <vt:lpstr>JetBrains Mono</vt:lpstr>
      <vt:lpstr>Economica</vt:lpstr>
      <vt:lpstr>Momentum</vt:lpstr>
      <vt:lpstr>JAVA Part-1</vt:lpstr>
      <vt:lpstr>CONTENTS</vt:lpstr>
      <vt:lpstr>CONTENTS</vt:lpstr>
      <vt:lpstr>INTRODUCTION TO JAVA</vt:lpstr>
      <vt:lpstr>Why Java</vt:lpstr>
      <vt:lpstr>SETUP JDK AND INSTALL INTELLIJ IDEA</vt:lpstr>
      <vt:lpstr>FIRST PROGRAM</vt:lpstr>
      <vt:lpstr>JAVA VARIABLES</vt:lpstr>
      <vt:lpstr>PowerPoint Presentation</vt:lpstr>
      <vt:lpstr>VARIABLE NAMING CONVENTION</vt:lpstr>
      <vt:lpstr>ESCAPE SEQUENCE</vt:lpstr>
      <vt:lpstr>DATA TYPES</vt:lpstr>
      <vt:lpstr>PRIMITIVE DATA TYPES</vt:lpstr>
      <vt:lpstr>NON-PRIMITIVE DATA TYPES</vt:lpstr>
      <vt:lpstr>TYPE CASTING</vt:lpstr>
      <vt:lpstr>Parsing</vt:lpstr>
      <vt:lpstr>Converting int to String</vt:lpstr>
      <vt:lpstr>OPERATORS</vt:lpstr>
      <vt:lpstr>MATH FUNCTIONS</vt:lpstr>
      <vt:lpstr>GENERATE RANDOM NUMBER</vt:lpstr>
      <vt:lpstr>Generate Rabdom Phone Number</vt:lpstr>
      <vt:lpstr>USER INPUT</vt:lpstr>
      <vt:lpstr>EXCEPTION HANDLING</vt:lpstr>
      <vt:lpstr>PowerPoint Presentation</vt:lpstr>
      <vt:lpstr>Another example of exception Handling</vt:lpstr>
      <vt:lpstr>IF ELSE SYNTAX</vt:lpstr>
      <vt:lpstr>IF ELSE EXAMPLE</vt:lpstr>
      <vt:lpstr>SWITCH CASE SYNTAX</vt:lpstr>
      <vt:lpstr>Switch case Example</vt:lpstr>
      <vt:lpstr>CONTINUE</vt:lpstr>
      <vt:lpstr>BREAK</vt:lpstr>
      <vt:lpstr>CONDITIONAL STATEMENT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Salman Srabon</dc:creator>
  <cp:lastModifiedBy>Shouvik Datta</cp:lastModifiedBy>
  <cp:revision>5</cp:revision>
  <dcterms:created xsi:type="dcterms:W3CDTF">2021-07-19T08:11:38Z</dcterms:created>
  <dcterms:modified xsi:type="dcterms:W3CDTF">2025-03-15T06:43:01Z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2023-01-24T17:03:17Z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71a20c8d-1d2b-4966-8877-c1ca6257b7ba</vt:lpwstr>
  </property>
  <property fmtid="{D5CDD505-2E9C-101B-9397-08002B2CF9AE}" pid="7" name="MSIP_Label_defa4170-0d19-0005-0004-bc88714345d2_ActionId">
    <vt:lpwstr>a94aeb68-552d-47ae-a49f-b4df34f702c7</vt:lpwstr>
  </property>
  <property fmtid="{D5CDD505-2E9C-101B-9397-08002B2CF9AE}" pid="8" name="MSIP_Label_defa4170-0d19-0005-0004-bc88714345d2_ContentBits">
    <vt:lpwstr>0</vt:lpwstr>
  </property>
</Properties>
</file>